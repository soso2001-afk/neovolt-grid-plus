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1D711-2550-571B-6385-B8066219DBE5}" v="12" dt="2026-06-09T19:36:19.473"/>
  </p1510:revLst>
</p1510:revInfo>
</file>

<file path=ppt/tableStyles.xml><?xml version="1.0" encoding="utf-8"?>
<a:tblStyleLst xmlns:a="http://schemas.openxmlformats.org/drawingml/2006/main" def="{554294F8-78CE-40D6-BB83-729832FB2266}">
  <a:tblStyle styleId="{554294F8-78CE-40D6-BB83-729832FB22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Ryad SMAILI" userId="S::smmohamed@etudiant-esic.fr::9e941562-89f9-4308-84d4-ec8012966c7e" providerId="AD" clId="Web-{13C1D711-2550-571B-6385-B8066219DBE5}"/>
    <pc:docChg chg="modSld">
      <pc:chgData name="Mohamed Ryad SMAILI" userId="S::smmohamed@etudiant-esic.fr::9e941562-89f9-4308-84d4-ec8012966c7e" providerId="AD" clId="Web-{13C1D711-2550-571B-6385-B8066219DBE5}" dt="2026-06-09T19:36:19.473" v="11" actId="20577"/>
      <pc:docMkLst>
        <pc:docMk/>
      </pc:docMkLst>
      <pc:sldChg chg="addSp delSp modSp">
        <pc:chgData name="Mohamed Ryad SMAILI" userId="S::smmohamed@etudiant-esic.fr::9e941562-89f9-4308-84d4-ec8012966c7e" providerId="AD" clId="Web-{13C1D711-2550-571B-6385-B8066219DBE5}" dt="2026-06-09T19:36:19.473" v="11" actId="20577"/>
        <pc:sldMkLst>
          <pc:docMk/>
          <pc:sldMk cId="0" sldId="257"/>
        </pc:sldMkLst>
        <pc:spChg chg="add del">
          <ac:chgData name="Mohamed Ryad SMAILI" userId="S::smmohamed@etudiant-esic.fr::9e941562-89f9-4308-84d4-ec8012966c7e" providerId="AD" clId="Web-{13C1D711-2550-571B-6385-B8066219DBE5}" dt="2026-06-09T19:35:59.878" v="5"/>
          <ac:spMkLst>
            <pc:docMk/>
            <pc:sldMk cId="0" sldId="257"/>
            <ac:spMk id="2" creationId="{0F18D954-4AA7-91EB-F138-C4D910F7D78A}"/>
          </ac:spMkLst>
        </pc:spChg>
        <pc:spChg chg="mod">
          <ac:chgData name="Mohamed Ryad SMAILI" userId="S::smmohamed@etudiant-esic.fr::9e941562-89f9-4308-84d4-ec8012966c7e" providerId="AD" clId="Web-{13C1D711-2550-571B-6385-B8066219DBE5}" dt="2026-06-09T19:36:19.473" v="11" actId="20577"/>
          <ac:spMkLst>
            <pc:docMk/>
            <pc:sldMk cId="0" sldId="257"/>
            <ac:spMk id="99" creationId="{00000000-0000-0000-0000-000000000000}"/>
          </ac:spMkLst>
        </pc:spChg>
        <pc:spChg chg="mod">
          <ac:chgData name="Mohamed Ryad SMAILI" userId="S::smmohamed@etudiant-esic.fr::9e941562-89f9-4308-84d4-ec8012966c7e" providerId="AD" clId="Web-{13C1D711-2550-571B-6385-B8066219DBE5}" dt="2026-06-09T19:35:30.065" v="3" actId="20577"/>
          <ac:spMkLst>
            <pc:docMk/>
            <pc:sldMk cId="0" sldId="257"/>
            <ac:spMk id="1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a8ee77a71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ea8ee77a71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ea8ee77a71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a8ee77a71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ea8ee77a71_0_762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ea8ee77a71_0_762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a8ee77a71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ea8ee77a71_0_687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ea8ee77a71_0_687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a8ee77a71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ea8ee77a71_2_2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ea8ee77a71_2_2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a8ee77a71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ea8ee77a71_2_4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ea8ee77a71_2_4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a8ee77a7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ea8ee77a71_2_6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ea8ee77a71_2_6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a8ee77a7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ea8ee77a71_2_8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ea8ee77a71_2_8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a8ee77a71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ea8ee77a71_2_9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ea8ee77a71_2_9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a8ee77a7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3ea8ee77a71_0_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ea8ee77a71_0_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a8ee77a7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g3ea8ee77a71_0_5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ea8ee77a71_0_5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a8ee77a71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3ea8ee77a71_0_8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ea8ee77a71_0_8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a8ee77a7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3ea8ee77a71_0_10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ea8ee77a71_0_10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a8ee77a71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3ea8ee77a71_0_15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ea8ee77a71_0_15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a8ee77a71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g3ea8ee77a71_0_17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3ea8ee77a71_0_17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a8ee77a71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g3ea8ee77a71_0_19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3ea8ee77a71_0_19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a8ee77a71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0" name="Google Shape;470;g3ea8ee77a71_0_23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3ea8ee77a71_0_23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a8ee77a71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g3ea8ee77a71_0_26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3ea8ee77a71_0_26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ea8ee77a71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g3ea8ee77a71_0_702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3ea8ee77a71_0_702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a8ee77a71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g3ea8ee77a71_0_29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g3ea8ee77a71_0_29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ea8ee77a71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g3ea8ee77a71_0_35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g3ea8ee77a71_0_35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ea8ee77a71_0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g3ea8ee77a71_0_747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g3ea8ee77a71_0_747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ea8ee77a71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g3ea8ee77a71_0_39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g3ea8ee77a71_0_39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ea8ee77a71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g3ea8ee77a71_0_45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g3ea8ee77a71_0_45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ea8ee77a71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1" name="Google Shape;741;g3ea8ee77a71_0_732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g3ea8ee77a71_0_732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ea8ee77a71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5" name="Google Shape;755;g3ea8ee77a71_0_48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g3ea8ee77a71_0_48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ea8ee77a71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g3ea8ee77a71_0_549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g3ea8ee77a71_0_549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ea8ee77a71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727" y="857273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g3ea8ee77a71_0_717:notes"/>
          <p:cNvSpPr txBox="1">
            <a:spLocks noGrp="1"/>
          </p:cNvSpPr>
          <p:nvPr>
            <p:ph type="body" idx="1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g3ea8ee77a71_0_717:notes"/>
          <p:cNvSpPr txBox="1">
            <a:spLocks noGrp="1"/>
          </p:cNvSpPr>
          <p:nvPr>
            <p:ph type="sldNum" idx="12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ea8ee77a71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4" name="Google Shape;884;g3ea8ee77a71_0_60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g3ea8ee77a71_0_60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ea8ee77a71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8" name="Google Shape;948;g3ea8ee77a71_0_66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g3ea8ee77a71_0_66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ea8ee77a71_0_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1" name="Google Shape;971;g3ea8ee77a71_0_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40.png"/><Relationship Id="rId5" Type="http://schemas.openxmlformats.org/officeDocument/2006/relationships/image" Target="../media/image16.png"/><Relationship Id="rId10" Type="http://schemas.openxmlformats.org/officeDocument/2006/relationships/image" Target="../media/image37.png"/><Relationship Id="rId4" Type="http://schemas.openxmlformats.org/officeDocument/2006/relationships/image" Target="../media/image46.png"/><Relationship Id="rId9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9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7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34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11" Type="http://schemas.openxmlformats.org/officeDocument/2006/relationships/image" Target="../media/image55.png"/><Relationship Id="rId5" Type="http://schemas.openxmlformats.org/officeDocument/2006/relationships/image" Target="../media/image62.png"/><Relationship Id="rId10" Type="http://schemas.openxmlformats.org/officeDocument/2006/relationships/image" Target="../media/image53.png"/><Relationship Id="rId4" Type="http://schemas.openxmlformats.org/officeDocument/2006/relationships/image" Target="../media/image61.png"/><Relationship Id="rId9" Type="http://schemas.openxmlformats.org/officeDocument/2006/relationships/image" Target="../media/image52.png"/><Relationship Id="rId1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7132320" y="411480"/>
            <a:ext cx="89154" cy="89154"/>
          </a:xfrm>
          <a:prstGeom prst="ellipse">
            <a:avLst/>
          </a:prstGeom>
          <a:solidFill>
            <a:srgbClr val="00A896">
              <a:alpha val="70196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612380" y="411480"/>
            <a:ext cx="89154" cy="89154"/>
          </a:xfrm>
          <a:prstGeom prst="ellipse">
            <a:avLst/>
          </a:prstGeom>
          <a:solidFill>
            <a:srgbClr val="00A896">
              <a:alpha val="70196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8092440" y="411480"/>
            <a:ext cx="89154" cy="89154"/>
          </a:xfrm>
          <a:prstGeom prst="ellipse">
            <a:avLst/>
          </a:prstGeom>
          <a:solidFill>
            <a:srgbClr val="00A896">
              <a:alpha val="70196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8572500" y="411480"/>
            <a:ext cx="89154" cy="89154"/>
          </a:xfrm>
          <a:prstGeom prst="ellipse">
            <a:avLst/>
          </a:prstGeom>
          <a:solidFill>
            <a:srgbClr val="00A896">
              <a:alpha val="70196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7132320" y="891540"/>
            <a:ext cx="89154" cy="89154"/>
          </a:xfrm>
          <a:prstGeom prst="ellipse">
            <a:avLst/>
          </a:prstGeom>
          <a:solidFill>
            <a:srgbClr val="00A896">
              <a:alpha val="70196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7612380" y="891540"/>
            <a:ext cx="89154" cy="89154"/>
          </a:xfrm>
          <a:prstGeom prst="ellipse">
            <a:avLst/>
          </a:prstGeom>
          <a:solidFill>
            <a:srgbClr val="00A896">
              <a:alpha val="70196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8092440" y="891540"/>
            <a:ext cx="89154" cy="89154"/>
          </a:xfrm>
          <a:prstGeom prst="ellipse">
            <a:avLst/>
          </a:prstGeom>
          <a:solidFill>
            <a:srgbClr val="00A896">
              <a:alpha val="70196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617220" y="1405890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100"/>
              <a:buFont typeface="Calibri"/>
              <a:buNone/>
            </a:pPr>
            <a:r>
              <a:rPr lang="fr" sz="11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fr" sz="1100" b="1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rojet </a:t>
            </a:r>
            <a:r>
              <a:rPr lang="fr" sz="11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— Classe CPDIA 2 / ESIS 2</a:t>
            </a:r>
            <a:endParaRPr sz="1100" b="0" i="0" u="none" strike="noStrike" cap="none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17220" y="1714500"/>
            <a:ext cx="78867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ambria"/>
              <a:buNone/>
            </a:pPr>
            <a:r>
              <a:rPr lang="fr" sz="4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Néovolt GRID+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>
            <a:off x="617235" y="2775585"/>
            <a:ext cx="1508700" cy="0"/>
          </a:xfrm>
          <a:prstGeom prst="straightConnector1">
            <a:avLst/>
          </a:prstGeom>
          <a:noFill/>
          <a:ln w="31750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15"/>
          <p:cNvSpPr/>
          <p:nvPr/>
        </p:nvSpPr>
        <p:spPr>
          <a:xfrm>
            <a:off x="493395" y="3013705"/>
            <a:ext cx="7543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Équipe projet: CASMOS 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17225" y="3404215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298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Celia SAIDANI </a:t>
            </a:r>
            <a:endParaRPr sz="11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 Ryad SMAILI</a:t>
            </a:r>
            <a:endParaRPr sz="11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Sabrina BOUZEKRI</a:t>
            </a:r>
            <a:endParaRPr sz="11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Sofiane MAHMOUDI</a:t>
            </a:r>
            <a:endParaRPr sz="11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lang="fr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Aboubacar DIARRA</a:t>
            </a:r>
            <a:endParaRPr sz="11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480073" y="308610"/>
            <a:ext cx="8161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Trebuchet MS"/>
              <a:buNone/>
            </a:pPr>
            <a:r>
              <a:rPr lang="fr" sz="900" b="1" i="0" u="none" strike="noStrike" cap="none">
                <a:solidFill>
                  <a:srgbClr val="1C7293"/>
                </a:solidFill>
                <a:latin typeface="Trebuchet MS"/>
                <a:ea typeface="Trebuchet MS"/>
                <a:cs typeface="Trebuchet MS"/>
                <a:sym typeface="Trebuchet MS"/>
              </a:rPr>
              <a:t>PLAN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80073" y="732001"/>
            <a:ext cx="81612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942"/>
              </a:buClr>
              <a:buSzPts val="2300"/>
              <a:buFont typeface="Trebuchet MS"/>
              <a:buNone/>
            </a:pPr>
            <a:r>
              <a:rPr lang="fr" sz="2300" b="1" i="0" u="none" strike="noStrike" cap="none">
                <a:solidFill>
                  <a:srgbClr val="0B2942"/>
                </a:solidFill>
                <a:latin typeface="Trebuchet MS"/>
                <a:ea typeface="Trebuchet MS"/>
                <a:cs typeface="Trebuchet MS"/>
                <a:sym typeface="Trebuchet MS"/>
              </a:rPr>
              <a:t>Cinq volets, une équipe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80073" y="1405890"/>
            <a:ext cx="8161200" cy="56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1" dist="2857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80073" y="1405890"/>
            <a:ext cx="82500" cy="562200"/>
          </a:xfrm>
          <a:prstGeom prst="rect">
            <a:avLst/>
          </a:prstGeom>
          <a:solidFill>
            <a:srgbClr val="0B294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685818" y="1515618"/>
            <a:ext cx="342900" cy="342900"/>
          </a:xfrm>
          <a:prstGeom prst="ellipse">
            <a:avLst/>
          </a:prstGeom>
          <a:solidFill>
            <a:srgbClr val="0B294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687" y="1594485"/>
            <a:ext cx="185166" cy="18516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1131600" y="1440180"/>
            <a:ext cx="342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BFC9"/>
              </a:buClr>
              <a:buSzPts val="2300"/>
              <a:buFont typeface="Trebuchet MS"/>
              <a:buNone/>
            </a:pPr>
            <a:r>
              <a:rPr lang="fr" sz="2300" b="1" i="0" u="none" strike="noStrike" cap="none">
                <a:solidFill>
                  <a:srgbClr val="AEBFC9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577382" y="1495044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942"/>
              </a:buClr>
              <a:buSzPts val="1300"/>
              <a:buFont typeface="Calibri"/>
              <a:buNone/>
            </a:pPr>
            <a:r>
              <a:rPr lang="fr" sz="1300" b="1" i="0" u="none" strike="noStrike" cap="none">
                <a:solidFill>
                  <a:srgbClr val="0B2942"/>
                </a:solidFill>
                <a:latin typeface="Calibri"/>
                <a:ea typeface="Calibri"/>
                <a:cs typeface="Calibri"/>
                <a:sym typeface="Calibri"/>
              </a:rPr>
              <a:t>Gestion de projet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577382" y="1721358"/>
            <a:ext cx="452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Cadrage, planning, gouvernance, pilotage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446692" y="1543050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B2942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B2942"/>
                </a:solidFill>
                <a:latin typeface="Calibri"/>
                <a:ea typeface="Calibri"/>
                <a:cs typeface="Calibri"/>
                <a:sym typeface="Calibri"/>
              </a:rPr>
              <a:t>Celia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80073" y="2043684"/>
            <a:ext cx="8161200" cy="56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1" dist="2857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80073" y="2043684"/>
            <a:ext cx="82500" cy="562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85818" y="2153412"/>
            <a:ext cx="342900" cy="3429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687" y="2232279"/>
            <a:ext cx="185166" cy="18516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1131600" y="2077974"/>
            <a:ext cx="342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BFC9"/>
              </a:buClr>
              <a:buSzPts val="2300"/>
              <a:buFont typeface="Trebuchet MS"/>
              <a:buNone/>
            </a:pPr>
            <a:r>
              <a:rPr lang="fr" sz="2300" b="1" i="0" u="none" strike="noStrike" cap="none">
                <a:solidFill>
                  <a:srgbClr val="AEBFC9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577382" y="2132838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lang="fr" sz="1300" b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Analyse de données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577382" y="2359152"/>
            <a:ext cx="452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Préparation, analyses, tableaux de bord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446692" y="2180844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B2942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B2942"/>
                </a:solidFill>
                <a:latin typeface="Calibri"/>
                <a:ea typeface="Calibri"/>
                <a:cs typeface="Calibri"/>
                <a:sym typeface="Calibri"/>
              </a:rPr>
              <a:t>Sabrina &amp; Ryad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80073" y="2681478"/>
            <a:ext cx="8161200" cy="56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1" dist="2857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80073" y="2681478"/>
            <a:ext cx="82500" cy="56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675631" y="2791131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4512" y="4145573"/>
            <a:ext cx="185166" cy="18516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131600" y="2715768"/>
            <a:ext cx="342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BFC9"/>
              </a:buClr>
              <a:buSzPts val="2300"/>
              <a:buFont typeface="Trebuchet MS"/>
              <a:buNone/>
            </a:pPr>
            <a:r>
              <a:rPr lang="fr" sz="2300" b="1" i="0" u="none" strike="noStrike" cap="none">
                <a:solidFill>
                  <a:srgbClr val="AEBFC9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577382" y="2770632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9873"/>
              </a:buClr>
              <a:buSzPts val="1300"/>
              <a:buFont typeface="Calibri"/>
              <a:buNone/>
            </a:pPr>
            <a:r>
              <a:rPr lang="fr" sz="1300" b="1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577382" y="2996946"/>
            <a:ext cx="452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Prévision de consommation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446692" y="2818638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r">
              <a:buSzPts val="1000"/>
              <a:buFont typeface="Calibri"/>
            </a:pPr>
            <a:r>
              <a:rPr lang="fr" sz="1000" b="1">
                <a:solidFill>
                  <a:srgbClr val="0B2942"/>
                </a:solidFill>
                <a:latin typeface="Calibri"/>
                <a:ea typeface="Calibri"/>
                <a:cs typeface="Calibri"/>
              </a:rPr>
              <a:t>Sabrina &amp; Ryad</a:t>
            </a:r>
            <a:endParaRPr lang="fr" sz="1000" b="1" i="0" u="none" strike="noStrike" cap="none" dirty="0">
              <a:solidFill>
                <a:srgbClr val="0B294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80073" y="3319272"/>
            <a:ext cx="8161200" cy="56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1" dist="2857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480073" y="3319272"/>
            <a:ext cx="82500" cy="5622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685818" y="3429000"/>
            <a:ext cx="342900" cy="3429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4687" y="3507867"/>
            <a:ext cx="185166" cy="18516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>
            <a:off x="1131600" y="3353562"/>
            <a:ext cx="342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BFC9"/>
              </a:buClr>
              <a:buSzPts val="2300"/>
              <a:buFont typeface="Trebuchet MS"/>
              <a:buNone/>
            </a:pPr>
            <a:r>
              <a:rPr lang="fr" sz="2300" b="1" i="0" u="none" strike="noStrike" cap="none">
                <a:solidFill>
                  <a:srgbClr val="AEBFC9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1577382" y="3408426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5C"/>
              </a:buClr>
              <a:buSzPts val="1300"/>
              <a:buFont typeface="Calibri"/>
              <a:buNone/>
            </a:pPr>
            <a:r>
              <a:rPr lang="fr" sz="1300" b="1" i="0" u="none" strike="noStrike" cap="none">
                <a:solidFill>
                  <a:srgbClr val="0F4C5C"/>
                </a:solidFill>
                <a:latin typeface="Calibri"/>
                <a:ea typeface="Calibri"/>
                <a:cs typeface="Calibri"/>
                <a:sym typeface="Calibri"/>
              </a:rPr>
              <a:t>Génie logiciel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1577382" y="3634740"/>
            <a:ext cx="452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Pipeline, base, API, déploiement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6446692" y="3456432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B2942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B2942"/>
                </a:solidFill>
                <a:latin typeface="Calibri"/>
                <a:ea typeface="Calibri"/>
                <a:cs typeface="Calibri"/>
                <a:sym typeface="Calibri"/>
              </a:rPr>
              <a:t>Sofiane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80073" y="3957066"/>
            <a:ext cx="8161200" cy="56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1" dist="28576" dir="81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80073" y="3957066"/>
            <a:ext cx="82500" cy="562200"/>
          </a:xfrm>
          <a:prstGeom prst="rect">
            <a:avLst/>
          </a:prstGeom>
          <a:solidFill>
            <a:srgbClr val="16987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685818" y="4066794"/>
            <a:ext cx="342900" cy="342900"/>
          </a:xfrm>
          <a:prstGeom prst="ellipse">
            <a:avLst/>
          </a:prstGeom>
          <a:solidFill>
            <a:srgbClr val="16987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512" y="2869999"/>
            <a:ext cx="185166" cy="18516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1131600" y="3991356"/>
            <a:ext cx="3429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BFC9"/>
              </a:buClr>
              <a:buSzPts val="2300"/>
              <a:buFont typeface="Trebuchet MS"/>
              <a:buNone/>
            </a:pPr>
            <a:r>
              <a:rPr lang="fr" sz="2300" b="1" i="0" u="none" strike="noStrike" cap="none">
                <a:solidFill>
                  <a:srgbClr val="AEBFC9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1577382" y="404622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A23B"/>
              </a:buClr>
              <a:buSzPts val="1300"/>
              <a:buFont typeface="Calibri"/>
              <a:buNone/>
            </a:pPr>
            <a:r>
              <a:rPr lang="fr" sz="1300" b="1">
                <a:solidFill>
                  <a:srgbClr val="169873"/>
                </a:solidFill>
                <a:latin typeface="Calibri"/>
                <a:ea typeface="Calibri"/>
                <a:cs typeface="Calibri"/>
                <a:sym typeface="Calibri"/>
              </a:rPr>
              <a:t>Cybersécurité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577382" y="4272534"/>
            <a:ext cx="45264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Risques, détection, conformité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446692" y="4094226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rgbClr val="0B2942"/>
                </a:solidFill>
                <a:latin typeface="Calibri"/>
                <a:ea typeface="Calibri"/>
                <a:cs typeface="Calibri"/>
                <a:sym typeface="Calibri"/>
              </a:rPr>
              <a:t>Aboubacar</a:t>
            </a:r>
            <a:endParaRPr lang="fr-FR"/>
          </a:p>
        </p:txBody>
      </p:sp>
      <p:sp>
        <p:nvSpPr>
          <p:cNvPr id="116" name="Google Shape;116;p16"/>
          <p:cNvSpPr/>
          <p:nvPr/>
        </p:nvSpPr>
        <p:spPr>
          <a:xfrm>
            <a:off x="8641310" y="4766310"/>
            <a:ext cx="342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942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240000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822982" y="1577340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fr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VOLET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822982" y="1920240"/>
            <a:ext cx="72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Trebuchet MS"/>
              <a:buNone/>
            </a:pPr>
            <a:r>
              <a:rPr lang="fr" sz="3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 projet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822982" y="2708910"/>
            <a:ext cx="720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E8"/>
              </a:buClr>
              <a:buSzPts val="1400"/>
              <a:buFont typeface="Calibri"/>
              <a:buNone/>
            </a:pPr>
            <a:r>
              <a:rPr lang="fr" sz="1400" b="0" i="0" u="none" strike="noStrike" cap="none">
                <a:solidFill>
                  <a:srgbClr val="CFE0E8"/>
                </a:solidFill>
                <a:latin typeface="Calibri"/>
                <a:ea typeface="Calibri"/>
                <a:cs typeface="Calibri"/>
                <a:sym typeface="Calibri"/>
              </a:rPr>
              <a:t>Cadrage, planning, gouvernance, pilotage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822982" y="3223260"/>
            <a:ext cx="720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fr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Celia SAIDANI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7132510" y="1577340"/>
            <a:ext cx="1097400" cy="1097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4891" y="1829714"/>
            <a:ext cx="592532" cy="5925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8641310" y="4766310"/>
            <a:ext cx="342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480073" y="476631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Néovolt Grid+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480060" y="308610"/>
            <a:ext cx="82296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QUI EST NÉOVOLT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80060" y="534924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Présentation de Néovolt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80060" y="1097280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fr" sz="11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Distributeur régional d’électricité et de gaz, avec une part croissante d’énergies renouvelables. Néovolt exploite une infrastructure « critique » : son réseau doit fonctionner sans coupure et protéger des données clients sensibles.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80060" y="2057400"/>
            <a:ext cx="1220724" cy="1337310"/>
          </a:xfrm>
          <a:prstGeom prst="roundRect">
            <a:avLst>
              <a:gd name="adj" fmla="val 5618"/>
            </a:avLst>
          </a:prstGeom>
          <a:solidFill>
            <a:srgbClr val="0E2A47"/>
          </a:solidFill>
          <a:ln>
            <a:noFill/>
          </a:ln>
          <a:effectLst>
            <a:outerShdw blurRad="88900" dist="381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830" y="21945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480060" y="2551176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fr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600 000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80060" y="2894076"/>
            <a:ext cx="1220724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clients desservis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(ville &amp; campagne)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824228" y="2057400"/>
            <a:ext cx="1220724" cy="1337310"/>
          </a:xfrm>
          <a:prstGeom prst="roundRect">
            <a:avLst>
              <a:gd name="adj" fmla="val 5618"/>
            </a:avLst>
          </a:prstGeom>
          <a:solidFill>
            <a:srgbClr val="0E2A47"/>
          </a:solidFill>
          <a:ln>
            <a:noFill/>
          </a:ln>
          <a:effectLst>
            <a:outerShdw blurRad="88900" dist="381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9998" y="21945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1824228" y="2551176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fr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1 100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824228" y="2894076"/>
            <a:ext cx="1220724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salariés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168396" y="2057400"/>
            <a:ext cx="1220724" cy="1337310"/>
          </a:xfrm>
          <a:prstGeom prst="roundRect">
            <a:avLst>
              <a:gd name="adj" fmla="val 5618"/>
            </a:avLst>
          </a:prstGeom>
          <a:solidFill>
            <a:srgbClr val="0E2A47"/>
          </a:solidFill>
          <a:ln>
            <a:noFill/>
          </a:ln>
          <a:effectLst>
            <a:outerShdw blurRad="88900" dist="381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14166" y="21945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3168396" y="2551176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fr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Réseau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168396" y="2894076"/>
            <a:ext cx="1220724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postes de transfo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&amp; parc de compteurs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512564" y="2057400"/>
            <a:ext cx="1220724" cy="1337310"/>
          </a:xfrm>
          <a:prstGeom prst="roundRect">
            <a:avLst>
              <a:gd name="adj" fmla="val 5618"/>
            </a:avLst>
          </a:prstGeom>
          <a:solidFill>
            <a:srgbClr val="0E2A47"/>
          </a:solidFill>
          <a:ln>
            <a:noFill/>
          </a:ln>
          <a:effectLst>
            <a:outerShdw blurRad="88900" dist="381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8334" y="21945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4512564" y="2551176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fr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30 min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512564" y="2894076"/>
            <a:ext cx="1220724" cy="44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fréquence des relevés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compteurs intelligents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795010" y="1097280"/>
            <a:ext cx="2846070" cy="3634740"/>
          </a:xfrm>
          <a:prstGeom prst="roundRect">
            <a:avLst>
              <a:gd name="adj" fmla="val 1928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6000750" y="1268730"/>
            <a:ext cx="246888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lang="fr" sz="13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Le SI actuel : un frein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035040" y="1645920"/>
            <a:ext cx="2434590" cy="298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Bases cloisonnées : relevés (SRV-DB-02) et clients/facturation (SRV-DB-01) ne communiquent pas.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Croisements faits à la main dans des fichiers Excel persos, sans historique.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Données de qualité inégale, travail difficile à reproduire.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Outil de reporting ancien et partiel.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8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SCADA (supervision temps réel) indispensable mais isolé : on n’y touche pas.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480060" y="308610"/>
            <a:ext cx="82296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LE BESOIN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80060" y="534924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Besoin de Néovolt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80060" y="1097280"/>
            <a:ext cx="816102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None/>
            </a:pPr>
            <a:r>
              <a:rPr lang="fr" sz="12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Passer d’une gestion </a:t>
            </a:r>
            <a:r>
              <a:rPr lang="fr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artisanale et au coup par coup</a:t>
            </a:r>
            <a:r>
              <a:rPr lang="fr" sz="12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 de la donnée (Excel persos, croisements manuels, anomalies repérées trop tard) à une gestion </a:t>
            </a:r>
            <a:r>
              <a:rPr lang="fr" sz="12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industrielle, anticipative et encadrée</a:t>
            </a:r>
            <a:r>
              <a:rPr lang="fr" sz="12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480060" y="1851660"/>
            <a:ext cx="81610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lang="fr" sz="10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Trois grands enjeux regroupent les six problèmes identifiés 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80060" y="2297430"/>
            <a:ext cx="269519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720090" y="2537460"/>
            <a:ext cx="582930" cy="58293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679" y="2678049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/>
          <p:nvPr/>
        </p:nvSpPr>
        <p:spPr>
          <a:xfrm>
            <a:off x="720090" y="3223260"/>
            <a:ext cx="221513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Cambria"/>
              <a:buNone/>
            </a:pPr>
            <a:r>
              <a:rPr lang="fr" sz="1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Valoriser la donnée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720090" y="3600450"/>
            <a:ext cx="22151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Rassembler des relevés éparpillés et de qualité inégale, les fiabiliser, puis anticiper la demande et repérer tôt anomalies et fraudes.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350133" y="2297430"/>
            <a:ext cx="269519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3590163" y="2537460"/>
            <a:ext cx="582930" cy="58293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" name="Google Shape;174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0752" y="2678049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3590163" y="3223260"/>
            <a:ext cx="221513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Cambria"/>
              <a:buNone/>
            </a:pPr>
            <a:r>
              <a:rPr lang="fr" sz="1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Outiller la décision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590163" y="3600450"/>
            <a:ext cx="22151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Donner aux équipes réseau, finance et relation client des tableaux de bord fiables et lisibles, à la place des fichiers dispersés.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220206" y="2297430"/>
            <a:ext cx="269519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6460236" y="2537460"/>
            <a:ext cx="582930" cy="58293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" name="Google Shape;179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0825" y="2678049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/>
          <p:nvPr/>
        </p:nvSpPr>
        <p:spPr>
          <a:xfrm>
            <a:off x="6460236" y="3223260"/>
            <a:ext cx="221513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Cambria"/>
              <a:buNone/>
            </a:pPr>
            <a:r>
              <a:rPr lang="fr" sz="1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Sécuriser &amp; piloter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460236" y="3600450"/>
            <a:ext cx="221513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Évaluer les risques, se mettre en règle (RGPD, NIS 2) et instaurer un vrai pilotage : budget, gouvernance, conduite du changement.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480060" y="308610"/>
            <a:ext cx="82296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CE QU’ON TRAITE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80060" y="534924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Périmètre retenu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80060" y="1097280"/>
            <a:ext cx="81610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fr" sz="11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Principe : traiter sérieusement les cas d’usage à plus forte valeur plutôt que de tout survoler. Périmètre volontairement resserré (1 semaine, budget indicatif).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80060" y="1714500"/>
            <a:ext cx="4800600" cy="3017520"/>
          </a:xfrm>
          <a:prstGeom prst="roundRect">
            <a:avLst>
              <a:gd name="adj" fmla="val 1591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10" y="18653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994410" y="1851660"/>
            <a:ext cx="41148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mbria"/>
              <a:buNone/>
            </a:pPr>
            <a:r>
              <a:rPr lang="fr" sz="14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Inclus (in-scope)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85800" y="2228850"/>
            <a:ext cx="44577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Cadrage &amp; pilotage :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note de cadrage, business case, plan projet, RACI, conduite du changement, tableau de bord.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685800" y="2640330"/>
            <a:ext cx="44577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Données &amp; qualité :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exploitation des jeux fournis, nettoyage et contrôle qualité.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85800" y="3051810"/>
            <a:ext cx="44577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Cas central : Prévision :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prototype de prévision de la conso journalière (volet Data Scientist).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85800" y="3463290"/>
            <a:ext cx="44577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Analyse &amp; restitution :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analyses descriptives/multivariées + dashboard Power BI par profil.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685800" y="3874770"/>
            <a:ext cx="44577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Sécurité &amp; conformité :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EBIOS simplifié, SIEM, runbook, DevSecOps, RGPD/NIS 2, PCA/PRA.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85800" y="4286250"/>
            <a:ext cx="44577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Architecture cible :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vision d’ensemble + prototype pipeline d’ingestion &amp; API.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417820" y="1714500"/>
            <a:ext cx="3223260" cy="3017520"/>
          </a:xfrm>
          <a:prstGeom prst="roundRect">
            <a:avLst>
              <a:gd name="adj" fmla="val 1591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623560" y="1851660"/>
            <a:ext cx="27432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400"/>
              <a:buFont typeface="Cambria"/>
              <a:buNone/>
            </a:pPr>
            <a:r>
              <a:rPr lang="fr" sz="1400" b="1" i="0" u="none" strike="noStrike" cap="none">
                <a:solidFill>
                  <a:srgbClr val="9BD7C9"/>
                </a:solidFill>
                <a:latin typeface="Cambria"/>
                <a:ea typeface="Cambria"/>
                <a:cs typeface="Cambria"/>
                <a:sym typeface="Cambria"/>
              </a:rPr>
              <a:t>Exclu (out-of-scope)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657850" y="2263140"/>
            <a:ext cx="277749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Mise en production complète de la plateforme (phase ultérieure).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900"/>
              </a:spcBef>
              <a:spcAft>
                <a:spcPts val="0"/>
              </a:spcAft>
              <a:buClr>
                <a:srgbClr val="E8F1F5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Toute intervention directe sur l’environnement SCADA réel.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900"/>
              </a:spcBef>
              <a:spcAft>
                <a:spcPts val="0"/>
              </a:spcAft>
              <a:buClr>
                <a:srgbClr val="E8F1F5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Remplacement des bases existantes (relevés, clients/facturation).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900"/>
              </a:spcBef>
              <a:spcAft>
                <a:spcPts val="0"/>
              </a:spcAft>
              <a:buClr>
                <a:srgbClr val="E8F1F5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Déploiement réel des modèles et leur supervision quotidienne.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47650" algn="l" rtl="0">
              <a:spcBef>
                <a:spcPts val="900"/>
              </a:spcBef>
              <a:spcAft>
                <a:spcPts val="0"/>
              </a:spcAft>
              <a:buClr>
                <a:srgbClr val="E8F1F5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Tests d’intrusion sur les systèmes réels (limité au prototype).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480060" y="308610"/>
            <a:ext cx="82296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MAÎTRISE DES RISQUES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80060" y="534924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Risques principaux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480060" y="1062990"/>
            <a:ext cx="81610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libri"/>
              <a:buNone/>
            </a:pPr>
            <a:r>
              <a:rPr lang="fr" sz="1000" b="1" i="1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Criticité = Probabilité × Impact</a:t>
            </a:r>
            <a:r>
              <a:rPr lang="fr" sz="10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  (max 16). Risque majeur si criticité ≥ 9 — traité en priorité.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21"/>
          <p:cNvGraphicFramePr/>
          <p:nvPr/>
        </p:nvGraphicFramePr>
        <p:xfrm>
          <a:off x="480060" y="1474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{554294F8-78CE-40D6-BB83-729832FB2266}</a:tableStyleId>
              </a:tblPr>
              <a:tblGrid>
                <a:gridCol w="219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3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Risque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Crit.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Mitigation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Qualité des données insuffisante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Nettoyage documenté (IQR, imputation), indicateurs traçables, brut préservé.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Modèle seul pour piloter le réseau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Aide à la décision ; validation humaine ; jamais connecté au SCADA.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Erreur de prévision sur un pic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Analyse jour par jour ; suivi des journées mal prédites ; monitoring.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Compromission d’accès (VPN, AD)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MFA, moindre privilège, comptes séparés, détection SIEM, runbook.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Fuite RGPD via export Power BI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Exports restreints, MFA, RBAC, données agrégées, journalisation.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Dépassement du budget 450 k€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case chiffré, priorisation par lots, suivi des coûts.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Délai d’une semaine trop court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8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5A6B7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Périmètre resserré, fraude reportée, jalons quotidiens, backlog priorisé.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/>
          <p:nvPr/>
        </p:nvSpPr>
        <p:spPr>
          <a:xfrm>
            <a:off x="480060" y="308610"/>
            <a:ext cx="82296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INVESTISSEMENT &amp; ROI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480060" y="534924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Estimation budgétaire du programme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480060" y="1062990"/>
            <a:ext cx="44577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Investissement initial — CAPEX phase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190" y="1371600"/>
            <a:ext cx="4594860" cy="322326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5280660" y="1268730"/>
            <a:ext cx="3360420" cy="960120"/>
          </a:xfrm>
          <a:prstGeom prst="roundRect">
            <a:avLst>
              <a:gd name="adj" fmla="val 5714"/>
            </a:avLst>
          </a:prstGeom>
          <a:solidFill>
            <a:srgbClr val="0E2A47"/>
          </a:solidFill>
          <a:ln>
            <a:noFill/>
          </a:ln>
          <a:effectLst>
            <a:outerShdw blurRad="88900" dist="381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" name="Google Shape;221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0116" y="154305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/>
          <p:nvPr/>
        </p:nvSpPr>
        <p:spPr>
          <a:xfrm>
            <a:off x="6000750" y="1371600"/>
            <a:ext cx="25374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lang="fr" sz="2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 398 500 €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6000750" y="1796796"/>
            <a:ext cx="25374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Total CAPEX phase 1  ·  budget plafond 450 k€ (marge ~50 k€)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280660" y="2366010"/>
            <a:ext cx="3360420" cy="630936"/>
          </a:xfrm>
          <a:prstGeom prst="roundRect">
            <a:avLst>
              <a:gd name="adj" fmla="val 7609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486400" y="2366010"/>
            <a:ext cx="137160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mbria"/>
              <a:buNone/>
            </a:pPr>
            <a:r>
              <a:rPr lang="fr" sz="16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~ 95 k€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823710" y="2366010"/>
            <a:ext cx="164592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OPEX récurrents / an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(cloud, licences, MLOps)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280660" y="3079242"/>
            <a:ext cx="3360420" cy="630936"/>
          </a:xfrm>
          <a:prstGeom prst="roundRect">
            <a:avLst>
              <a:gd name="adj" fmla="val 7609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486400" y="3079242"/>
            <a:ext cx="137160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mbria"/>
              <a:buNone/>
            </a:pPr>
            <a:r>
              <a:rPr lang="fr" sz="16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~ 355 k€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6823710" y="3079242"/>
            <a:ext cx="164592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Bénéfice net récurrent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/ an (gains − OPEX)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280660" y="3792474"/>
            <a:ext cx="3360420" cy="630936"/>
          </a:xfrm>
          <a:prstGeom prst="roundRect">
            <a:avLst>
              <a:gd name="adj" fmla="val 7609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486400" y="3792474"/>
            <a:ext cx="137160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mbria"/>
              <a:buNone/>
            </a:pPr>
            <a:r>
              <a:rPr lang="fr" sz="16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13–14 mois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6823710" y="3792474"/>
            <a:ext cx="164592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Délai de retour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sur investissement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280660" y="4519422"/>
            <a:ext cx="3360420" cy="589788"/>
          </a:xfrm>
          <a:prstGeom prst="roundRect">
            <a:avLst>
              <a:gd name="adj" fmla="val 8140"/>
            </a:avLst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486400" y="4519422"/>
            <a:ext cx="2948940" cy="58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fr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 à 3 ans ≈ +167 %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 à 5 ans ≈ +345 %  ·  remboursé &lt; 3 ans même en scénario pessimiste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WBS — DÉCOUPAGE EN LOTS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Découpage en lots de travail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480060" y="1062990"/>
            <a:ext cx="8160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lang="fr" sz="10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Le programme est découpé en 7 lots ; chaque lot regroupe des tâches cohérentes, porte des livrables identifiés et est rattaché à un volet.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480060" y="1543050"/>
            <a:ext cx="2057400" cy="15432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630936" y="1693926"/>
            <a:ext cx="425100" cy="425100"/>
          </a:xfrm>
          <a:prstGeom prst="roundRect">
            <a:avLst>
              <a:gd name="adj" fmla="val 9677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948" y="178993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/>
          <p:nvPr/>
        </p:nvSpPr>
        <p:spPr>
          <a:xfrm>
            <a:off x="1131570" y="1680210"/>
            <a:ext cx="123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mbria"/>
              <a:buNone/>
            </a:pPr>
            <a:r>
              <a:rPr lang="fr" sz="15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L0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630936" y="2173986"/>
            <a:ext cx="1755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Cadrage &amp; pilotage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630936" y="2516886"/>
            <a:ext cx="17556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Note de cadrage, business case, gouvernance (RACI), conduite du changement.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630936" y="2798064"/>
            <a:ext cx="1755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Porté par : </a:t>
            </a:r>
            <a:r>
              <a:rPr lang="fr" sz="7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Chef de projet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2626614" y="1543050"/>
            <a:ext cx="2057400" cy="15432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777490" y="1693926"/>
            <a:ext cx="425100" cy="425100"/>
          </a:xfrm>
          <a:prstGeom prst="roundRect">
            <a:avLst>
              <a:gd name="adj" fmla="val 9677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73502" y="178993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/>
          <p:nvPr/>
        </p:nvSpPr>
        <p:spPr>
          <a:xfrm>
            <a:off x="3278124" y="1680210"/>
            <a:ext cx="123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mbria"/>
              <a:buNone/>
            </a:pPr>
            <a:r>
              <a:rPr lang="fr" sz="15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L1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2777490" y="2173986"/>
            <a:ext cx="1755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Socle données &amp; qualité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2777490" y="2516886"/>
            <a:ext cx="17556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Récupération CSV, nettoyage documenté, enrichissement, indicateurs qualité.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777490" y="2798064"/>
            <a:ext cx="1755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Porté par : </a:t>
            </a:r>
            <a:r>
              <a:rPr lang="fr" sz="7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4773168" y="1543050"/>
            <a:ext cx="2057400" cy="15432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4924044" y="1693926"/>
            <a:ext cx="425100" cy="425100"/>
          </a:xfrm>
          <a:prstGeom prst="roundRect">
            <a:avLst>
              <a:gd name="adj" fmla="val 9677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2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0056" y="178993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5424678" y="1680210"/>
            <a:ext cx="123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mbria"/>
              <a:buNone/>
            </a:pPr>
            <a:r>
              <a:rPr lang="fr" sz="15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L2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924044" y="2173986"/>
            <a:ext cx="1755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Analyse &amp; restitution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4924044" y="2516886"/>
            <a:ext cx="17556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Analyses descriptives/multivariées, dashboard Power BI par décideur.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4924044" y="2798064"/>
            <a:ext cx="1755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Porté par : </a:t>
            </a:r>
            <a:r>
              <a:rPr lang="fr" sz="7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6919722" y="1543050"/>
            <a:ext cx="2057400" cy="15432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7070598" y="1693926"/>
            <a:ext cx="425100" cy="425100"/>
          </a:xfrm>
          <a:prstGeom prst="roundRect">
            <a:avLst>
              <a:gd name="adj" fmla="val 9677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6" name="Google Shape;266;p2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66610" y="178993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/>
          <p:nvPr/>
        </p:nvSpPr>
        <p:spPr>
          <a:xfrm>
            <a:off x="7571232" y="1680210"/>
            <a:ext cx="123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mbria"/>
              <a:buNone/>
            </a:pPr>
            <a:r>
              <a:rPr lang="fr" sz="15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L3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070598" y="2173986"/>
            <a:ext cx="1755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Modèle de prévision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7070598" y="2516886"/>
            <a:ext cx="17556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Préparation du jeu journalier, modélisation, évaluation, MLOps de base.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7070598" y="2798064"/>
            <a:ext cx="1755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Porté par : </a:t>
            </a:r>
            <a:r>
              <a:rPr lang="fr" sz="7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Data Scientist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480060" y="3209544"/>
            <a:ext cx="2057400" cy="15432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630936" y="3360420"/>
            <a:ext cx="425100" cy="425100"/>
          </a:xfrm>
          <a:prstGeom prst="roundRect">
            <a:avLst>
              <a:gd name="adj" fmla="val 9677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3" name="Google Shape;273;p2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6948" y="3456432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/>
          <p:nvPr/>
        </p:nvSpPr>
        <p:spPr>
          <a:xfrm>
            <a:off x="1131570" y="3346704"/>
            <a:ext cx="123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mbria"/>
              <a:buNone/>
            </a:pPr>
            <a:r>
              <a:rPr lang="fr" sz="15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L4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630936" y="3840480"/>
            <a:ext cx="1755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Sécurité &amp; conformité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30936" y="4183380"/>
            <a:ext cx="17556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EBIOS, SIEM, runbook, DevSecOps, RGPD/NIS 2, PCA/PRA.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630936" y="4464558"/>
            <a:ext cx="1755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Porté par : </a:t>
            </a:r>
            <a:r>
              <a:rPr lang="fr" sz="7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Cybersécurité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2626614" y="3209544"/>
            <a:ext cx="2057400" cy="15432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2777490" y="3360420"/>
            <a:ext cx="425100" cy="425100"/>
          </a:xfrm>
          <a:prstGeom prst="roundRect">
            <a:avLst>
              <a:gd name="adj" fmla="val 9677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0" name="Google Shape;280;p2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73502" y="3456432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/>
          <p:nvPr/>
        </p:nvSpPr>
        <p:spPr>
          <a:xfrm>
            <a:off x="3278124" y="3346704"/>
            <a:ext cx="123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mbria"/>
              <a:buNone/>
            </a:pPr>
            <a:r>
              <a:rPr lang="fr" sz="15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L5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2777490" y="3840480"/>
            <a:ext cx="1755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Architecture &amp; intégration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777490" y="4183380"/>
            <a:ext cx="17556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Architecture cible, assemblage des contributions, dépôt reproductible.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2777490" y="4464558"/>
            <a:ext cx="1755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Porté par : </a:t>
            </a:r>
            <a:r>
              <a:rPr lang="fr" sz="7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Ing. data / dev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4773168" y="3209544"/>
            <a:ext cx="2057400" cy="15432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4924044" y="3360420"/>
            <a:ext cx="425100" cy="425100"/>
          </a:xfrm>
          <a:prstGeom prst="roundRect">
            <a:avLst>
              <a:gd name="adj" fmla="val 9677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7" name="Google Shape;287;p2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20056" y="3456432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/>
          <p:nvPr/>
        </p:nvSpPr>
        <p:spPr>
          <a:xfrm>
            <a:off x="5424678" y="3346704"/>
            <a:ext cx="123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mbria"/>
              <a:buNone/>
            </a:pPr>
            <a:r>
              <a:rPr lang="fr" sz="15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L6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4924044" y="3840480"/>
            <a:ext cx="1755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Communication &amp; soutenance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4924044" y="4183380"/>
            <a:ext cx="17556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Dossier projet, résumé exécutif EN, vidéos démo et soutenance.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4924044" y="4464558"/>
            <a:ext cx="1755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Porté par : </a:t>
            </a:r>
            <a:r>
              <a:rPr lang="fr" sz="7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Tous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SPRINT D'UNE SEMAINE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Jalons du sprint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480060" y="1062990"/>
            <a:ext cx="816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libri"/>
              <a:buNone/>
            </a:pPr>
            <a:r>
              <a:rPr lang="fr" sz="1000" b="1" i="1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Chemin critique : </a:t>
            </a:r>
            <a:r>
              <a:rPr lang="fr" sz="1000" b="1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L0 → L1 → L3 → L5 → L6</a:t>
            </a:r>
            <a:r>
              <a:rPr lang="fr" sz="10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  —  tout retard sur le socle données (L1) décale le modèle puis l'intégration.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24"/>
          <p:cNvCxnSpPr/>
          <p:nvPr/>
        </p:nvCxnSpPr>
        <p:spPr>
          <a:xfrm>
            <a:off x="925830" y="1885950"/>
            <a:ext cx="0" cy="2523600"/>
          </a:xfrm>
          <a:prstGeom prst="straightConnector1">
            <a:avLst/>
          </a:prstGeom>
          <a:noFill/>
          <a:ln w="31750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" name="Google Shape;301;p24"/>
          <p:cNvSpPr/>
          <p:nvPr/>
        </p:nvSpPr>
        <p:spPr>
          <a:xfrm>
            <a:off x="692658" y="1652778"/>
            <a:ext cx="466200" cy="466200"/>
          </a:xfrm>
          <a:prstGeom prst="ellipse">
            <a:avLst/>
          </a:prstGeom>
          <a:solidFill>
            <a:srgbClr val="0E2A47"/>
          </a:solidFill>
          <a:ln w="317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692658" y="1652778"/>
            <a:ext cx="466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1371600" y="1611630"/>
            <a:ext cx="72696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Cadrage   </a:t>
            </a:r>
            <a:r>
              <a:rPr lang="fr" sz="9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Lun 01/06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1385316" y="1865376"/>
            <a:ext cx="726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Note de cadrage déposée, périmètre fixé, backlog et rôles répartis.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692658" y="2283714"/>
            <a:ext cx="466200" cy="466200"/>
          </a:xfrm>
          <a:prstGeom prst="ellipse">
            <a:avLst/>
          </a:prstGeom>
          <a:solidFill>
            <a:srgbClr val="0E2A47"/>
          </a:solidFill>
          <a:ln w="317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692658" y="2283714"/>
            <a:ext cx="466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1371600" y="2242566"/>
            <a:ext cx="72696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Démarrage   </a:t>
            </a:r>
            <a:r>
              <a:rPr lang="fr" sz="9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Mar 02/06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1385316" y="2496312"/>
            <a:ext cx="726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Environnements prêts, nettoyage lancé, premières analyses, cadrage cyber posé.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692658" y="2914650"/>
            <a:ext cx="466200" cy="466200"/>
          </a:xfrm>
          <a:prstGeom prst="ellipse">
            <a:avLst/>
          </a:prstGeom>
          <a:solidFill>
            <a:srgbClr val="0E2A47"/>
          </a:solidFill>
          <a:ln w="317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692658" y="2914650"/>
            <a:ext cx="466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1371600" y="2873502"/>
            <a:ext cx="72696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Production   </a:t>
            </a:r>
            <a:r>
              <a:rPr lang="fr" sz="9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Mer 03/06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1385316" y="3127248"/>
            <a:ext cx="726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Jeu de prévision prêt, modèles entraînés, dashboard en cours, SIEM &amp; runbook rédigés.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692658" y="3545586"/>
            <a:ext cx="466200" cy="466200"/>
          </a:xfrm>
          <a:prstGeom prst="ellipse">
            <a:avLst/>
          </a:prstGeom>
          <a:solidFill>
            <a:srgbClr val="0E2A47"/>
          </a:solidFill>
          <a:ln w="317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692658" y="3545586"/>
            <a:ext cx="466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1371600" y="3504438"/>
            <a:ext cx="72696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Intégration   </a:t>
            </a:r>
            <a:r>
              <a:rPr lang="fr" sz="9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Jeu 04/06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1385316" y="3758184"/>
            <a:ext cx="726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Contributions assemblées, tests réalisés, sécurisation, rédaction du dossier en cours.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692658" y="4176522"/>
            <a:ext cx="466200" cy="466200"/>
          </a:xfrm>
          <a:prstGeom prst="ellipse">
            <a:avLst/>
          </a:prstGeom>
          <a:solidFill>
            <a:srgbClr val="00A896"/>
          </a:solidFill>
          <a:ln w="317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692658" y="4176522"/>
            <a:ext cx="4662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1371600" y="4135374"/>
            <a:ext cx="72696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Livraison   </a:t>
            </a:r>
            <a:r>
              <a:rPr lang="fr" sz="9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Ven 05/06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1385316" y="4389120"/>
            <a:ext cx="726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Dossier finalisé, vidéos enregistrées, dépôt complet avant 23h59.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ARBITRAGE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Choix des priorités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480060" y="1062990"/>
            <a:ext cx="8160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lang="fr" sz="10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Question clé : commencer par la prévision de consommation ou par la détection de fraude ? Notation de 1 à 5 sur 3 critères : valeur métier court terme, faisabilité en 1 semaine, niveau de risque.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25"/>
          <p:cNvGraphicFramePr/>
          <p:nvPr/>
        </p:nvGraphicFramePr>
        <p:xfrm>
          <a:off x="480060" y="15773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{554294F8-78CE-40D6-BB83-729832FB2266}</a:tableStyleId>
              </a:tblPr>
              <a:tblGrid>
                <a:gridCol w="29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 d'usage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Valeur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Faisabilité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Risque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Décision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Prévision de consommation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(faible)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Prioritaire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900"/>
                        <a:buFont typeface="Calibri"/>
                        <a:buNone/>
                      </a:pPr>
                      <a:r>
                        <a:rPr lang="fr" sz="9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Détection de fraude / anomalies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(élevé)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fr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Reporté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0" name="Google Shape;330;p25"/>
          <p:cNvSpPr/>
          <p:nvPr/>
        </p:nvSpPr>
        <p:spPr>
          <a:xfrm>
            <a:off x="480060" y="3017520"/>
            <a:ext cx="3991500" cy="1714500"/>
          </a:xfrm>
          <a:prstGeom prst="roundRect">
            <a:avLst>
              <a:gd name="adj" fmla="val 2800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1" name="Google Shape;331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10" y="31683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5"/>
          <p:cNvSpPr/>
          <p:nvPr/>
        </p:nvSpPr>
        <p:spPr>
          <a:xfrm>
            <a:off x="994410" y="3154680"/>
            <a:ext cx="34428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Pourquoi la prévision d'abord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651510" y="3552444"/>
            <a:ext cx="36486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Faisabilité :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niveau agrégé journalier, données prêtes, réaliste en 1 semaine.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Valeur immédiate :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anticipe les pics → moins d'achats d'équilibrage (exploitation &amp; finance).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Risque maîtrisé :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données agrégées, aucune décision défavorable client.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4649724" y="3017520"/>
            <a:ext cx="3991500" cy="1714500"/>
          </a:xfrm>
          <a:prstGeom prst="roundRect">
            <a:avLst>
              <a:gd name="adj" fmla="val 2800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5" name="Google Shape;335;p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1174" y="31683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/>
          <p:nvPr/>
        </p:nvSpPr>
        <p:spPr>
          <a:xfrm>
            <a:off x="5164074" y="3154680"/>
            <a:ext cx="33741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9BD7C9"/>
                </a:solidFill>
                <a:latin typeface="Cambria"/>
                <a:ea typeface="Cambria"/>
                <a:cs typeface="Cambria"/>
                <a:sym typeface="Cambria"/>
              </a:rPr>
              <a:t>Pourquoi la fraude est reportée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4821174" y="3552444"/>
            <a:ext cx="36486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Faisabilité limitée : </a:t>
            </a: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peu de cas confirmés ; modèle fiable = plus de temps/données.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Risque élevé : </a:t>
            </a: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un faux positif accuse un client ; AIPD, explicabilité, validation humaine.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Dépendance : </a:t>
            </a: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repose sur le socle L1, à stabiliser d'abord via la prévision.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CADRE &amp; FONDATIONS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Principes &amp; classification des données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480060" y="1062990"/>
            <a:ext cx="8160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lang="fr" sz="10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Objectif : transformer un patrimoine dispersé et non maîtrisé (10 jeux de données + données dérivées) en un actif fiable, traçable et conforme — en répondant au constat « personne n'est propriétaire de quelle donnée ».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480060" y="1680210"/>
            <a:ext cx="1797000" cy="12207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617220" y="1817370"/>
            <a:ext cx="384000" cy="384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8" name="Google Shape;348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374" y="1906524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/>
          <p:nvPr/>
        </p:nvSpPr>
        <p:spPr>
          <a:xfrm>
            <a:off x="1083564" y="1817370"/>
            <a:ext cx="1111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Propriété claire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617220" y="2263140"/>
            <a:ext cx="1522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Un propriétaire métier par jeu, distinct du gestionnaire technique.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2386584" y="1680210"/>
            <a:ext cx="1797000" cy="12207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2523744" y="1817370"/>
            <a:ext cx="384000" cy="384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3" name="Google Shape;353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2898" y="1906524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/>
        </p:nvSpPr>
        <p:spPr>
          <a:xfrm>
            <a:off x="2990088" y="1817370"/>
            <a:ext cx="1111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Qualité maîtrisée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2523744" y="2263140"/>
            <a:ext cx="1522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Nettoyage documenté et reproductible ; le brut n'est jamais modifié.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4293108" y="1680210"/>
            <a:ext cx="1797000" cy="12207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6"/>
          <p:cNvSpPr/>
          <p:nvPr/>
        </p:nvSpPr>
        <p:spPr>
          <a:xfrm>
            <a:off x="4430268" y="1817370"/>
            <a:ext cx="384000" cy="384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8" name="Google Shape;358;p2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19422" y="1906524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6"/>
          <p:cNvSpPr/>
          <p:nvPr/>
        </p:nvSpPr>
        <p:spPr>
          <a:xfrm>
            <a:off x="4896612" y="1817370"/>
            <a:ext cx="1111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Minimisation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4430268" y="2263140"/>
            <a:ext cx="1522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Ne collecter/afficher/exporter que le nécessaire ; agréger par défaut.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480060" y="3010662"/>
            <a:ext cx="1797000" cy="12207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617220" y="3147822"/>
            <a:ext cx="384000" cy="384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3" name="Google Shape;363;p2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6374" y="3236976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6"/>
          <p:cNvSpPr/>
          <p:nvPr/>
        </p:nvSpPr>
        <p:spPr>
          <a:xfrm>
            <a:off x="1083564" y="3147822"/>
            <a:ext cx="1111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Traçabilité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617220" y="3593592"/>
            <a:ext cx="1522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Accès, exports, corrections et configs journalisés.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2386584" y="3010662"/>
            <a:ext cx="1797000" cy="12207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2523744" y="3147822"/>
            <a:ext cx="384000" cy="384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8" name="Google Shape;368;p2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12898" y="3236976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/>
          <p:nvPr/>
        </p:nvSpPr>
        <p:spPr>
          <a:xfrm>
            <a:off x="2990088" y="3147822"/>
            <a:ext cx="1111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Sécurité par rôle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2523744" y="3593592"/>
            <a:ext cx="1522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Droits selon le profil, authentification forte sur les accès sensibles.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4293108" y="3010662"/>
            <a:ext cx="1797000" cy="12207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6"/>
          <p:cNvSpPr/>
          <p:nvPr/>
        </p:nvSpPr>
        <p:spPr>
          <a:xfrm>
            <a:off x="4430268" y="3147822"/>
            <a:ext cx="384000" cy="384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3" name="Google Shape;373;p2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9422" y="3236976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/>
          <p:nvPr/>
        </p:nvSpPr>
        <p:spPr>
          <a:xfrm>
            <a:off x="4896612" y="3147822"/>
            <a:ext cx="1111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Cycle de vie défini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4430268" y="3593592"/>
            <a:ext cx="1522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Durée de conservation + règle de suppression/archivage.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6206490" y="1680210"/>
            <a:ext cx="243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lang="fr" sz="13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Classification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6206490" y="2023110"/>
            <a:ext cx="2434500" cy="7200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6357366" y="2269998"/>
            <a:ext cx="219300" cy="2193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6672834" y="2112264"/>
            <a:ext cx="1851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Sensible (personnel)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6672834" y="2352294"/>
            <a:ext cx="1851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Clients, relevés conso, réclamations, fraudes confirmées.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6206490" y="2818638"/>
            <a:ext cx="2434500" cy="7200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6"/>
          <p:cNvSpPr/>
          <p:nvPr/>
        </p:nvSpPr>
        <p:spPr>
          <a:xfrm>
            <a:off x="6357366" y="3065526"/>
            <a:ext cx="219300" cy="2193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6"/>
          <p:cNvSpPr/>
          <p:nvPr/>
        </p:nvSpPr>
        <p:spPr>
          <a:xfrm>
            <a:off x="6672834" y="2907792"/>
            <a:ext cx="1851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Critique (métier)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6672834" y="3147822"/>
            <a:ext cx="1851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Incidents réseau, journaux de sécurité, inventaire des actifs.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6206490" y="3614166"/>
            <a:ext cx="2434500" cy="7200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6357366" y="3861054"/>
            <a:ext cx="219300" cy="2193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6672834" y="3703320"/>
            <a:ext cx="18519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Interne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6672834" y="3943350"/>
            <a:ext cx="1851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Météo, données agrégées, indicateurs de pilotage.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7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PROPRIÉTÉ &amp; QUALITÉ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Propriété des données et politique de qualité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480060" y="106299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Propriété : propriétaire métier + gestionnaire technique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7" name="Google Shape;397;p27"/>
          <p:cNvGraphicFramePr/>
          <p:nvPr/>
        </p:nvGraphicFramePr>
        <p:xfrm>
          <a:off x="480060" y="1405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{554294F8-78CE-40D6-BB83-729832FB2266}</a:tableStyleId>
              </a:tblPr>
              <a:tblGrid>
                <a:gridCol w="161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Jeu de données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Propriétaire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Sens.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clients / relevés conso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Exploitation Réseau / Rel. Client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incidents réseau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Dir. Exploitation Réseau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journaux &amp; actifs SI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RSSI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 fraude confirmés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Dir. Financière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météo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Dir. Transition Énergétique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données dérivées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DSI (sponsor) / Équipe projet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8" name="Google Shape;398;p27"/>
          <p:cNvSpPr/>
          <p:nvPr/>
        </p:nvSpPr>
        <p:spPr>
          <a:xfrm>
            <a:off x="480060" y="4011930"/>
            <a:ext cx="4080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fr" sz="800" b="0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 Sensible    </a:t>
            </a:r>
            <a:r>
              <a:rPr lang="fr" sz="8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fr" sz="800" b="0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 Critique    </a:t>
            </a:r>
            <a:r>
              <a:rPr lang="fr" sz="8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fr" sz="800" b="0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 Interne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480060" y="4286250"/>
            <a:ext cx="4080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DPO transverse sur tout le personnel · RSSI sur la sécurité.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4800600" y="1062990"/>
            <a:ext cx="3840600" cy="3566400"/>
          </a:xfrm>
          <a:prstGeom prst="roundRect">
            <a:avLst>
              <a:gd name="adj" fmla="val 1346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5006340" y="1220724"/>
            <a:ext cx="34290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Politique de qualité — l'enjeu n°1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006340" y="1563624"/>
            <a:ext cx="3429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5 dimensions suivies 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5006340" y="1796796"/>
            <a:ext cx="3429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Complétude —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taux de relevés manquants par PDL/jour.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Validité —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conso négatives &amp; aberrantes (méthode IQR).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Unicité —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doublons complets et métier (clé fonctionnelle).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Cohérence —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clés id_pdl / id_client entre référentiels.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Fraîcheur — </a:t>
            </a: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relevés disponibles à J+1 (cible de service).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5006340" y="3326130"/>
            <a:ext cx="34290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Règles &amp; KPI clés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5006340" y="3566160"/>
            <a:ext cx="34290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6035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Brut jamais modifié ; corrections = donnée dérivée tracée (flag).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60350" algn="l" rtl="0"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Traitements versionnés et reproductibles.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60350" algn="l" rtl="0"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Complétude ≥ 99 % · doublons résiduels ≈ 0 % · cohérence clés 100 %.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CONFORMITÉ &amp; RESPONSABILITÉS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Conformité (RGPD / NIS 2) &amp; matrice RACI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480060" y="1062990"/>
            <a:ext cx="3703200" cy="1680300"/>
          </a:xfrm>
          <a:prstGeom prst="roundRect">
            <a:avLst>
              <a:gd name="adj" fmla="val 2857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4" name="Google Shape;414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10" y="12207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8"/>
          <p:cNvSpPr/>
          <p:nvPr/>
        </p:nvSpPr>
        <p:spPr>
          <a:xfrm>
            <a:off x="994410" y="1207008"/>
            <a:ext cx="27432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mbria"/>
              <a:buNone/>
            </a:pPr>
            <a:r>
              <a:rPr lang="fr" sz="13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RGPD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685800" y="1563624"/>
            <a:ext cx="3429000" cy="11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Finalité explicite et limitée par traitement.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Minimisation : dashboards agrégés, identifiants réservés aux habilités.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Droits des personnes garantis (accès, rectif., effacement).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AIPD requise pour la future détection de fraude.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Aucune décision défavorable automatique : validation humaine obligatoire.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8"/>
          <p:cNvSpPr/>
          <p:nvPr/>
        </p:nvSpPr>
        <p:spPr>
          <a:xfrm>
            <a:off x="480060" y="2846070"/>
            <a:ext cx="3703200" cy="1783200"/>
          </a:xfrm>
          <a:prstGeom prst="roundRect">
            <a:avLst>
              <a:gd name="adj" fmla="val 2692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8" name="Google Shape;418;p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510" y="30038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8"/>
          <p:cNvSpPr/>
          <p:nvPr/>
        </p:nvSpPr>
        <p:spPr>
          <a:xfrm>
            <a:off x="994410" y="2990088"/>
            <a:ext cx="3086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9BD7C9"/>
                </a:solidFill>
                <a:latin typeface="Cambria"/>
                <a:ea typeface="Cambria"/>
                <a:cs typeface="Cambria"/>
                <a:sym typeface="Cambria"/>
              </a:rPr>
              <a:t>NIS 2 &amp; infrastructure critique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685800" y="3346704"/>
            <a:ext cx="342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Analyse de risque et surveillance des systèmes sensibles.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50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Notification d'un incident majeur sous 24 h.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50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Accès prestataires encadrés : droits temporaires, traçabilité, révocation.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50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Continuité &amp; reprise (PCA/PRA) sur les actifs critiques (SCADA, plateforme, sauvegardes).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4491990" y="106299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Matrice RACI — extrait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2" name="Google Shape;422;p28"/>
          <p:cNvGraphicFramePr/>
          <p:nvPr/>
        </p:nvGraphicFramePr>
        <p:xfrm>
          <a:off x="4491990" y="1405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{554294F8-78CE-40D6-BB83-729832FB2266}</a:tableStyleId>
              </a:tblPr>
              <a:tblGrid>
                <a:gridCol w="168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Activité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DSI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RSSI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DPO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Métier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Définir les propriétaires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Définir la politique qualité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Nettoyer &amp; préparer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Durées de conservation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Accès &amp; habilitations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Conformité RGPD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Sécuriser &amp; journaliser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Valider alerte fraude (humain)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Décider mise en production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Suivre indicateurs qualité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6B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23" name="Google Shape;423;p28"/>
          <p:cNvSpPr/>
          <p:nvPr/>
        </p:nvSpPr>
        <p:spPr>
          <a:xfrm>
            <a:off x="4491990" y="4594860"/>
            <a:ext cx="4149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 </a:t>
            </a:r>
            <a:r>
              <a:rPr lang="fr" sz="700" b="0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Responsable   </a:t>
            </a: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fr" sz="700" b="0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Approbateur   </a:t>
            </a:r>
            <a:r>
              <a:rPr lang="fr" sz="7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lang="fr" sz="700" b="0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Consulté   </a:t>
            </a:r>
            <a:r>
              <a:rPr lang="fr" sz="700" b="1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fr" sz="700" b="0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Informé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4491990" y="4800600"/>
            <a:ext cx="41490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700"/>
              <a:buFont typeface="Calibri"/>
              <a:buNone/>
            </a:pPr>
            <a:r>
              <a:rPr lang="fr" sz="7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Règle d'or : une seule lettre A par ligne (un seul décideur).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APPROCHE MÉTHODOLOGIQUE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9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Le modèle ADKAR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480060" y="1062990"/>
            <a:ext cx="8160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100"/>
              <a:buFont typeface="Calibri"/>
              <a:buNone/>
            </a:pPr>
            <a:r>
              <a:rPr lang="fr" sz="11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Une solution data n'a de valeur que si elle est adoptée. L'accompagnement suit les 5 étapes qu'une personne franchit pour adopter un changement.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9"/>
          <p:cNvSpPr/>
          <p:nvPr/>
        </p:nvSpPr>
        <p:spPr>
          <a:xfrm>
            <a:off x="404622" y="1714500"/>
            <a:ext cx="1563600" cy="28119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9"/>
          <p:cNvSpPr/>
          <p:nvPr/>
        </p:nvSpPr>
        <p:spPr>
          <a:xfrm>
            <a:off x="843534" y="1954530"/>
            <a:ext cx="685800" cy="6858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5" name="Google Shape;435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268" y="2112264"/>
            <a:ext cx="370332" cy="370332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9"/>
          <p:cNvSpPr/>
          <p:nvPr/>
        </p:nvSpPr>
        <p:spPr>
          <a:xfrm>
            <a:off x="404622" y="2708910"/>
            <a:ext cx="1563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486918" y="3120390"/>
            <a:ext cx="139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Awareness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486918" y="3374136"/>
            <a:ext cx="13992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Prise de conscience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555498" y="3648456"/>
            <a:ext cx="12618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Expliquer le coût des pics mal anticipés et des données dispersées.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9"/>
          <p:cNvSpPr/>
          <p:nvPr/>
        </p:nvSpPr>
        <p:spPr>
          <a:xfrm>
            <a:off x="2091690" y="1714500"/>
            <a:ext cx="1563600" cy="28119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9"/>
          <p:cNvSpPr/>
          <p:nvPr/>
        </p:nvSpPr>
        <p:spPr>
          <a:xfrm>
            <a:off x="2530602" y="1954530"/>
            <a:ext cx="685800" cy="685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2" name="Google Shape;442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8336" y="2112264"/>
            <a:ext cx="370332" cy="370332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9"/>
          <p:cNvSpPr/>
          <p:nvPr/>
        </p:nvSpPr>
        <p:spPr>
          <a:xfrm>
            <a:off x="2091690" y="2708910"/>
            <a:ext cx="1563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9"/>
          <p:cNvSpPr/>
          <p:nvPr/>
        </p:nvSpPr>
        <p:spPr>
          <a:xfrm>
            <a:off x="2173986" y="3120390"/>
            <a:ext cx="139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Desire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2173986" y="3374136"/>
            <a:ext cx="13992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Adhésion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9"/>
          <p:cNvSpPr/>
          <p:nvPr/>
        </p:nvSpPr>
        <p:spPr>
          <a:xfrm>
            <a:off x="2242566" y="3648456"/>
            <a:ext cx="12618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Montrer le bénéfice concret pour chaque métier.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9"/>
          <p:cNvSpPr/>
          <p:nvPr/>
        </p:nvSpPr>
        <p:spPr>
          <a:xfrm>
            <a:off x="3778758" y="1714500"/>
            <a:ext cx="1563600" cy="28119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9"/>
          <p:cNvSpPr/>
          <p:nvPr/>
        </p:nvSpPr>
        <p:spPr>
          <a:xfrm>
            <a:off x="4217670" y="1954530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9" name="Google Shape;449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5404" y="2112264"/>
            <a:ext cx="370332" cy="370332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9"/>
          <p:cNvSpPr/>
          <p:nvPr/>
        </p:nvSpPr>
        <p:spPr>
          <a:xfrm>
            <a:off x="3778758" y="2708910"/>
            <a:ext cx="1563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9"/>
          <p:cNvSpPr/>
          <p:nvPr/>
        </p:nvSpPr>
        <p:spPr>
          <a:xfrm>
            <a:off x="3861054" y="3120390"/>
            <a:ext cx="139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Knowledge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/>
          <p:nvPr/>
        </p:nvSpPr>
        <p:spPr>
          <a:xfrm>
            <a:off x="3861054" y="3374136"/>
            <a:ext cx="13992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Savoir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9"/>
          <p:cNvSpPr/>
          <p:nvPr/>
        </p:nvSpPr>
        <p:spPr>
          <a:xfrm>
            <a:off x="3929634" y="3648456"/>
            <a:ext cx="12618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Former à la lecture des dashboards et à l'usage des prévisions.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/>
          <p:nvPr/>
        </p:nvSpPr>
        <p:spPr>
          <a:xfrm>
            <a:off x="5465826" y="1714500"/>
            <a:ext cx="1563600" cy="28119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9"/>
          <p:cNvSpPr/>
          <p:nvPr/>
        </p:nvSpPr>
        <p:spPr>
          <a:xfrm>
            <a:off x="5904738" y="195453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6" name="Google Shape;456;p2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62472" y="2112264"/>
            <a:ext cx="370332" cy="370332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9"/>
          <p:cNvSpPr/>
          <p:nvPr/>
        </p:nvSpPr>
        <p:spPr>
          <a:xfrm>
            <a:off x="5465826" y="2708910"/>
            <a:ext cx="1563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5548122" y="3120390"/>
            <a:ext cx="139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Ability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5548122" y="3374136"/>
            <a:ext cx="13992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Capacité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5616702" y="3648456"/>
            <a:ext cx="12618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Accompagner les premiers usages réels (coaching, support).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7152894" y="1714500"/>
            <a:ext cx="1563600" cy="28119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7591806" y="1954530"/>
            <a:ext cx="685800" cy="685800"/>
          </a:xfrm>
          <a:prstGeom prst="ellipse">
            <a:avLst/>
          </a:prstGeom>
          <a:solidFill>
            <a:srgbClr val="0E7A6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3" name="Google Shape;463;p2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9540" y="2112264"/>
            <a:ext cx="370332" cy="37033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9"/>
          <p:cNvSpPr/>
          <p:nvPr/>
        </p:nvSpPr>
        <p:spPr>
          <a:xfrm>
            <a:off x="7152894" y="2708910"/>
            <a:ext cx="1563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7A6E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7A6E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7235190" y="3120390"/>
            <a:ext cx="139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Reinforcement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7235190" y="3374136"/>
            <a:ext cx="13992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Ancrage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7303770" y="3648456"/>
            <a:ext cx="12618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Suivre l'usage, recueillir les retours, ajuster.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0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POPULATIONS CIBLES (1/2)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Exploitants réseau &amp; service client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0"/>
          <p:cNvSpPr/>
          <p:nvPr/>
        </p:nvSpPr>
        <p:spPr>
          <a:xfrm>
            <a:off x="480060" y="1165860"/>
            <a:ext cx="3991200" cy="3463200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0"/>
          <p:cNvSpPr/>
          <p:nvPr/>
        </p:nvSpPr>
        <p:spPr>
          <a:xfrm>
            <a:off x="685800" y="1371600"/>
            <a:ext cx="480300" cy="4803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7" name="Google Shape;477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386" y="148818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0"/>
          <p:cNvSpPr/>
          <p:nvPr/>
        </p:nvSpPr>
        <p:spPr>
          <a:xfrm>
            <a:off x="1268730" y="1357884"/>
            <a:ext cx="3099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Cambria"/>
              <a:buNone/>
            </a:pPr>
            <a:r>
              <a:rPr lang="fr" sz="1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Exploitants réseau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0"/>
          <p:cNvSpPr/>
          <p:nvPr/>
        </p:nvSpPr>
        <p:spPr>
          <a:xfrm>
            <a:off x="1268730" y="1632204"/>
            <a:ext cx="309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Impact fort · utilisateur clé à convaincre par le terrain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/>
          <p:nvPr/>
        </p:nvSpPr>
        <p:spPr>
          <a:xfrm>
            <a:off x="720090" y="1988820"/>
            <a:ext cx="357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Bénéfices à mettre en avant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/>
          <p:nvPr/>
        </p:nvSpPr>
        <p:spPr>
          <a:xfrm>
            <a:off x="754380" y="2228850"/>
            <a:ext cx="34770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Anticiper les pics grâce aux prévisions (réseau &amp; astreinte).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Visualiser les incidents par zone, type et cause.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Remplacer les extractions Excel par des dashboards fiables à J+1.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0"/>
          <p:cNvSpPr/>
          <p:nvPr/>
        </p:nvSpPr>
        <p:spPr>
          <a:xfrm>
            <a:off x="720090" y="3326130"/>
            <a:ext cx="357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Freins anticipés → réponses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/>
          <p:nvPr/>
        </p:nvSpPr>
        <p:spPr>
          <a:xfrm>
            <a:off x="754380" y="3566160"/>
            <a:ext cx="3477000" cy="9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« L'outil ne connaît pas le terrain »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co-construire les dashboards, intégrer leurs indicateurs.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Méfiance envers la prévision auto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aide à la décision, la décision reste humaine.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Crainte de surcharge de travail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montrer le temps gagné sur les extractions.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0"/>
          <p:cNvSpPr/>
          <p:nvPr/>
        </p:nvSpPr>
        <p:spPr>
          <a:xfrm>
            <a:off x="4649724" y="1165860"/>
            <a:ext cx="3991200" cy="3463200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0"/>
          <p:cNvSpPr/>
          <p:nvPr/>
        </p:nvSpPr>
        <p:spPr>
          <a:xfrm>
            <a:off x="4855464" y="1371600"/>
            <a:ext cx="480300" cy="4803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6" name="Google Shape;486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2050" y="148818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0"/>
          <p:cNvSpPr/>
          <p:nvPr/>
        </p:nvSpPr>
        <p:spPr>
          <a:xfrm>
            <a:off x="5438394" y="1357884"/>
            <a:ext cx="3099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Cambria"/>
              <a:buNone/>
            </a:pPr>
            <a:r>
              <a:rPr lang="fr" sz="1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Service client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0"/>
          <p:cNvSpPr/>
          <p:nvPr/>
        </p:nvSpPr>
        <p:spPr>
          <a:xfrm>
            <a:off x="5438394" y="1632204"/>
            <a:ext cx="309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Impact moyen · attentif à la relation client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0"/>
          <p:cNvSpPr/>
          <p:nvPr/>
        </p:nvSpPr>
        <p:spPr>
          <a:xfrm>
            <a:off x="4889754" y="1988820"/>
            <a:ext cx="357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Bénéfices à mettre en avant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0"/>
          <p:cNvSpPr/>
          <p:nvPr/>
        </p:nvSpPr>
        <p:spPr>
          <a:xfrm>
            <a:off x="4924044" y="2228850"/>
            <a:ext cx="34770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Suivre volume, canaux et satisfaction des réclamations.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Relier réclamations, incidents et zones.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Information fiable pour répondre plus vite et plus justement.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0"/>
          <p:cNvSpPr/>
          <p:nvPr/>
        </p:nvSpPr>
        <p:spPr>
          <a:xfrm>
            <a:off x="4889754" y="3326130"/>
            <a:ext cx="357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Freins anticipés → réponses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0"/>
          <p:cNvSpPr/>
          <p:nvPr/>
        </p:nvSpPr>
        <p:spPr>
          <a:xfrm>
            <a:off x="4924044" y="3566160"/>
            <a:ext cx="3477000" cy="9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Peur d'accuser un client à tort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validation humaine, critères explicables, fraude reportée (AIPD).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Crainte de déshumanisation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l'outil aide, ne remplace pas le contact.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Complexité perçue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vues simples, formation courte, support de proximité.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1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POPULATIONS CIBLES (2/2)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1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Décideurs &amp; équipes techniques DSI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480060" y="1165860"/>
            <a:ext cx="3991200" cy="3463200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1"/>
          <p:cNvSpPr/>
          <p:nvPr/>
        </p:nvSpPr>
        <p:spPr>
          <a:xfrm>
            <a:off x="685800" y="1371600"/>
            <a:ext cx="480300" cy="4803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2" name="Google Shape;502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386" y="148818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1"/>
          <p:cNvSpPr/>
          <p:nvPr/>
        </p:nvSpPr>
        <p:spPr>
          <a:xfrm>
            <a:off x="1268730" y="1357884"/>
            <a:ext cx="3099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Cambria"/>
              <a:buNone/>
            </a:pPr>
            <a:r>
              <a:rPr lang="fr" sz="1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Décideurs (finance, DG)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1"/>
          <p:cNvSpPr/>
          <p:nvPr/>
        </p:nvSpPr>
        <p:spPr>
          <a:xfrm>
            <a:off x="1268730" y="1632204"/>
            <a:ext cx="309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Impact moyen · sponsor à rassurer sur ROI et risque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720090" y="1988820"/>
            <a:ext cx="357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Bénéfices à mettre en avant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754380" y="2228850"/>
            <a:ext cx="34770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Tableaux de bord de pilotage consolidés (conso, incidents, coûts évités).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Business case chiffré : équilibrage, pertes, ROI estimé.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Décisions fondées sur des données fiables.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1"/>
          <p:cNvSpPr/>
          <p:nvPr/>
        </p:nvSpPr>
        <p:spPr>
          <a:xfrm>
            <a:off x="720090" y="3326130"/>
            <a:ext cx="357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Freins anticipés → réponses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1"/>
          <p:cNvSpPr/>
          <p:nvPr/>
        </p:nvSpPr>
        <p:spPr>
          <a:xfrm>
            <a:off x="754380" y="3566160"/>
            <a:ext cx="3477000" cy="9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Doute sur le ROI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business case avec hypothèses explicites et payback.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Crainte du dérapage coût/délai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plan jalonné, périmètre resserré, suivi des risques.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Peur d'une surface d'attaque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sécurité dès la conception, SCADA isolé, NIS 2.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4649724" y="1165860"/>
            <a:ext cx="3991200" cy="3463200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4855464" y="1371600"/>
            <a:ext cx="480300" cy="4803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1" name="Google Shape;511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2050" y="148818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1"/>
          <p:cNvSpPr/>
          <p:nvPr/>
        </p:nvSpPr>
        <p:spPr>
          <a:xfrm>
            <a:off x="5438394" y="1357884"/>
            <a:ext cx="3099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400"/>
              <a:buFont typeface="Cambria"/>
              <a:buNone/>
            </a:pPr>
            <a:r>
              <a:rPr lang="fr" sz="1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Équipes techniques DSI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1"/>
          <p:cNvSpPr/>
          <p:nvPr/>
        </p:nvSpPr>
        <p:spPr>
          <a:xfrm>
            <a:off x="5438394" y="1632204"/>
            <a:ext cx="309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Impact fort · opérateur de la plateforme, à former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4889754" y="1988820"/>
            <a:ext cx="357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Bénéfices à mettre en avant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1"/>
          <p:cNvSpPr/>
          <p:nvPr/>
        </p:nvSpPr>
        <p:spPr>
          <a:xfrm>
            <a:off x="4924044" y="2228850"/>
            <a:ext cx="34770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Ingestion CSV automatisée, validée et tracée (journal).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Plateforme reproductible via Docker à partir de la doc.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API unique qui alimente tous les volets, casse les silos.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1"/>
          <p:cNvSpPr/>
          <p:nvPr/>
        </p:nvSpPr>
        <p:spPr>
          <a:xfrm>
            <a:off x="4889754" y="3326130"/>
            <a:ext cx="35799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E67E22"/>
                </a:solidFill>
                <a:latin typeface="Cambria"/>
                <a:ea typeface="Cambria"/>
                <a:cs typeface="Cambria"/>
                <a:sym typeface="Cambria"/>
              </a:rPr>
              <a:t>Freins anticipés → réponses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4924044" y="3566160"/>
            <a:ext cx="3477000" cy="9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Montée en compétence (Docker, API)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doc pas-à-pas, guide de test, transfert de compétences.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Perte de maîtrise des traitements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journal d'ingestion et validation rendent tout visible.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Coexistence avec l'existant 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→ intégration sans toucher au SCADA, reprise progressive.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942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2"/>
          <p:cNvSpPr/>
          <p:nvPr/>
        </p:nvSpPr>
        <p:spPr>
          <a:xfrm>
            <a:off x="0" y="0"/>
            <a:ext cx="240000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2"/>
          <p:cNvSpPr/>
          <p:nvPr/>
        </p:nvSpPr>
        <p:spPr>
          <a:xfrm>
            <a:off x="822982" y="1577340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fr" sz="12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VOLET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822982" y="1920240"/>
            <a:ext cx="72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Trebuchet MS"/>
              <a:buNone/>
            </a:pPr>
            <a:r>
              <a:rPr lang="fr" sz="35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Analyse des données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822982" y="2708910"/>
            <a:ext cx="720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E8"/>
              </a:buClr>
              <a:buSzPts val="1400"/>
              <a:buFont typeface="Calibri"/>
              <a:buNone/>
            </a:pPr>
            <a:r>
              <a:rPr lang="fr" sz="1400" b="0" i="0" u="none" strike="noStrike" cap="none">
                <a:solidFill>
                  <a:srgbClr val="CFE0E8"/>
                </a:solidFill>
                <a:latin typeface="Calibri"/>
                <a:ea typeface="Calibri"/>
                <a:cs typeface="Calibri"/>
                <a:sym typeface="Calibri"/>
              </a:rPr>
              <a:t>Préparation, analyses, tableaux de bord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822982" y="3223260"/>
            <a:ext cx="720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fr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Sabrina BOUZEKRI &amp; Mohamed Ryad SMAILI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7132510" y="1577340"/>
            <a:ext cx="1097400" cy="1097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9" name="Google Shape;529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4891" y="1829714"/>
            <a:ext cx="592532" cy="592532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2"/>
          <p:cNvSpPr/>
          <p:nvPr/>
        </p:nvSpPr>
        <p:spPr>
          <a:xfrm>
            <a:off x="8641310" y="4766310"/>
            <a:ext cx="342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480073" y="476631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Néovolt Grid+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3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VOLET DATA ANALYST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Stack technique &amp; chaîne de traitement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480060" y="1062990"/>
            <a:ext cx="816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100"/>
              <a:buFont typeface="Calibri"/>
              <a:buNone/>
            </a:pPr>
            <a:r>
              <a:rPr lang="fr" sz="11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Une chaîne reproductible des CSV bruts jusqu'au dashboard décisionnel, organisée en notebooks documentés.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404622" y="1508760"/>
            <a:ext cx="1563600" cy="19545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3"/>
          <p:cNvSpPr/>
          <p:nvPr/>
        </p:nvSpPr>
        <p:spPr>
          <a:xfrm>
            <a:off x="898398" y="1700784"/>
            <a:ext cx="576000" cy="576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2" name="Google Shape;542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842" y="18242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3"/>
          <p:cNvSpPr/>
          <p:nvPr/>
        </p:nvSpPr>
        <p:spPr>
          <a:xfrm>
            <a:off x="1309878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507492" y="2331720"/>
            <a:ext cx="1357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Sources CSV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3"/>
          <p:cNvSpPr/>
          <p:nvPr/>
        </p:nvSpPr>
        <p:spPr>
          <a:xfrm>
            <a:off x="541782" y="2743200"/>
            <a:ext cx="12894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8 jeux : relevés conso, compteurs, clients, météo, incidents, horaires, réclamations, fraudes.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3"/>
          <p:cNvSpPr/>
          <p:nvPr/>
        </p:nvSpPr>
        <p:spPr>
          <a:xfrm rot="5400000">
            <a:off x="1954464" y="2403687"/>
            <a:ext cx="150900" cy="1647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33"/>
          <p:cNvSpPr/>
          <p:nvPr/>
        </p:nvSpPr>
        <p:spPr>
          <a:xfrm>
            <a:off x="2091690" y="1508760"/>
            <a:ext cx="1563600" cy="19545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3"/>
          <p:cNvSpPr/>
          <p:nvPr/>
        </p:nvSpPr>
        <p:spPr>
          <a:xfrm>
            <a:off x="2585466" y="1700784"/>
            <a:ext cx="576000" cy="576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9" name="Google Shape;549;p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8910" y="18242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3"/>
          <p:cNvSpPr/>
          <p:nvPr/>
        </p:nvSpPr>
        <p:spPr>
          <a:xfrm>
            <a:off x="2996946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2194560" y="2331720"/>
            <a:ext cx="1357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Exploration &amp; qualité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2228850" y="2743200"/>
            <a:ext cx="12894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Notebook 01 : complétude, doublons, plages de dates, valeurs aberrantes.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3641532" y="2403687"/>
            <a:ext cx="150900" cy="1647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3"/>
          <p:cNvSpPr/>
          <p:nvPr/>
        </p:nvSpPr>
        <p:spPr>
          <a:xfrm>
            <a:off x="3778758" y="1508760"/>
            <a:ext cx="1563600" cy="19545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3"/>
          <p:cNvSpPr/>
          <p:nvPr/>
        </p:nvSpPr>
        <p:spPr>
          <a:xfrm>
            <a:off x="4272534" y="1700784"/>
            <a:ext cx="576000" cy="576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6" name="Google Shape;556;p3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5978" y="18242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3"/>
          <p:cNvSpPr/>
          <p:nvPr/>
        </p:nvSpPr>
        <p:spPr>
          <a:xfrm>
            <a:off x="4684014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3"/>
          <p:cNvSpPr/>
          <p:nvPr/>
        </p:nvSpPr>
        <p:spPr>
          <a:xfrm>
            <a:off x="3881628" y="2331720"/>
            <a:ext cx="1357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Nettoyage &amp; enrichissement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3915918" y="2743200"/>
            <a:ext cx="12894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Notebook 02 : IQR, imputation médiane, flag de correction, variables temporelles &amp; DJU.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3"/>
          <p:cNvSpPr/>
          <p:nvPr/>
        </p:nvSpPr>
        <p:spPr>
          <a:xfrm rot="5400000">
            <a:off x="5328600" y="2403687"/>
            <a:ext cx="150900" cy="1647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3"/>
          <p:cNvSpPr/>
          <p:nvPr/>
        </p:nvSpPr>
        <p:spPr>
          <a:xfrm>
            <a:off x="5465826" y="1508760"/>
            <a:ext cx="1563600" cy="19545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3"/>
          <p:cNvSpPr/>
          <p:nvPr/>
        </p:nvSpPr>
        <p:spPr>
          <a:xfrm>
            <a:off x="5959602" y="1700784"/>
            <a:ext cx="576000" cy="576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3" name="Google Shape;563;p3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83046" y="18242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3"/>
          <p:cNvSpPr/>
          <p:nvPr/>
        </p:nvSpPr>
        <p:spPr>
          <a:xfrm>
            <a:off x="6371082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3"/>
          <p:cNvSpPr/>
          <p:nvPr/>
        </p:nvSpPr>
        <p:spPr>
          <a:xfrm>
            <a:off x="5568696" y="2331720"/>
            <a:ext cx="1357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Analyses &amp; visualisations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5602986" y="2743200"/>
            <a:ext cx="12894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Descriptives, multivariées, temporelles, horaires, incidents, réclamations.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3"/>
          <p:cNvSpPr/>
          <p:nvPr/>
        </p:nvSpPr>
        <p:spPr>
          <a:xfrm rot="5400000">
            <a:off x="7015668" y="2403687"/>
            <a:ext cx="150900" cy="1647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3"/>
          <p:cNvSpPr/>
          <p:nvPr/>
        </p:nvSpPr>
        <p:spPr>
          <a:xfrm>
            <a:off x="7152894" y="1508760"/>
            <a:ext cx="1563600" cy="19545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3"/>
          <p:cNvSpPr/>
          <p:nvPr/>
        </p:nvSpPr>
        <p:spPr>
          <a:xfrm>
            <a:off x="7646670" y="1700784"/>
            <a:ext cx="576000" cy="576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0" name="Google Shape;570;p3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70114" y="18242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3"/>
          <p:cNvSpPr/>
          <p:nvPr/>
        </p:nvSpPr>
        <p:spPr>
          <a:xfrm>
            <a:off x="8058150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3"/>
          <p:cNvSpPr/>
          <p:nvPr/>
        </p:nvSpPr>
        <p:spPr>
          <a:xfrm>
            <a:off x="7255764" y="2331720"/>
            <a:ext cx="1357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Dashboard Power BI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3"/>
          <p:cNvSpPr/>
          <p:nvPr/>
        </p:nvSpPr>
        <p:spPr>
          <a:xfrm>
            <a:off x="7290054" y="2743200"/>
            <a:ext cx="12894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700"/>
              <a:buFont typeface="Calibri"/>
              <a:buNone/>
            </a:pPr>
            <a:r>
              <a:rPr lang="fr" sz="7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Tables agrégées powerbi_*.csv → vues lisibles par profil métier.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3"/>
          <p:cNvSpPr/>
          <p:nvPr/>
        </p:nvSpPr>
        <p:spPr>
          <a:xfrm>
            <a:off x="480060" y="366903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Technologies &amp; outils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3"/>
          <p:cNvSpPr/>
          <p:nvPr/>
        </p:nvSpPr>
        <p:spPr>
          <a:xfrm>
            <a:off x="480060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3"/>
          <p:cNvSpPr/>
          <p:nvPr/>
        </p:nvSpPr>
        <p:spPr>
          <a:xfrm>
            <a:off x="630936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7" name="Google Shape;577;p3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0090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3"/>
          <p:cNvSpPr/>
          <p:nvPr/>
        </p:nvSpPr>
        <p:spPr>
          <a:xfrm>
            <a:off x="1110996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Notebooks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3"/>
          <p:cNvSpPr/>
          <p:nvPr/>
        </p:nvSpPr>
        <p:spPr>
          <a:xfrm>
            <a:off x="1906524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3"/>
          <p:cNvSpPr/>
          <p:nvPr/>
        </p:nvSpPr>
        <p:spPr>
          <a:xfrm>
            <a:off x="2057400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1" name="Google Shape;581;p3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46554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>
            <a:off x="2537460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(pandas, IQR)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3332988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3"/>
          <p:cNvSpPr/>
          <p:nvPr/>
        </p:nvSpPr>
        <p:spPr>
          <a:xfrm>
            <a:off x="3483864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5" name="Google Shape;585;p3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3018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3"/>
          <p:cNvSpPr/>
          <p:nvPr/>
        </p:nvSpPr>
        <p:spPr>
          <a:xfrm>
            <a:off x="3963924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(visualisations)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3"/>
          <p:cNvSpPr/>
          <p:nvPr/>
        </p:nvSpPr>
        <p:spPr>
          <a:xfrm>
            <a:off x="4759452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3"/>
          <p:cNvSpPr/>
          <p:nvPr/>
        </p:nvSpPr>
        <p:spPr>
          <a:xfrm>
            <a:off x="4910328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9" name="Google Shape;589;p3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99482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3"/>
          <p:cNvSpPr/>
          <p:nvPr/>
        </p:nvSpPr>
        <p:spPr>
          <a:xfrm>
            <a:off x="5390388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(.pbix)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3"/>
          <p:cNvSpPr/>
          <p:nvPr/>
        </p:nvSpPr>
        <p:spPr>
          <a:xfrm>
            <a:off x="6185916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3"/>
          <p:cNvSpPr/>
          <p:nvPr/>
        </p:nvSpPr>
        <p:spPr>
          <a:xfrm>
            <a:off x="6336792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3" name="Google Shape;593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5946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3"/>
          <p:cNvSpPr/>
          <p:nvPr/>
        </p:nvSpPr>
        <p:spPr>
          <a:xfrm>
            <a:off x="6816852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CSV agrégés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powerbi_*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3"/>
          <p:cNvSpPr/>
          <p:nvPr/>
        </p:nvSpPr>
        <p:spPr>
          <a:xfrm>
            <a:off x="7612380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33"/>
          <p:cNvSpPr/>
          <p:nvPr/>
        </p:nvSpPr>
        <p:spPr>
          <a:xfrm>
            <a:off x="7763256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7" name="Google Shape;597;p3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52410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3"/>
          <p:cNvSpPr/>
          <p:nvPr/>
        </p:nvSpPr>
        <p:spPr>
          <a:xfrm>
            <a:off x="8243316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(dépôt versionné)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4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VOLET DATA ANALYST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Résultats &amp; livrables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480060" y="106299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Principaux enseignements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514350" y="1399032"/>
            <a:ext cx="342900" cy="3429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8" name="Google Shape;608;p3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504" y="148818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4"/>
          <p:cNvSpPr/>
          <p:nvPr/>
        </p:nvSpPr>
        <p:spPr>
          <a:xfrm>
            <a:off x="960120" y="1371600"/>
            <a:ext cx="3566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mbria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Saisonnalité marquée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4"/>
          <p:cNvSpPr/>
          <p:nvPr/>
        </p:nvSpPr>
        <p:spPr>
          <a:xfrm>
            <a:off x="960120" y="1577340"/>
            <a:ext cx="360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Conso plus élevée en période froide → anticiper pics &amp; achats d'énergie.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4"/>
          <p:cNvSpPr/>
          <p:nvPr/>
        </p:nvSpPr>
        <p:spPr>
          <a:xfrm>
            <a:off x="514350" y="2043684"/>
            <a:ext cx="342900" cy="3429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2" name="Google Shape;612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504" y="213283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4"/>
          <p:cNvSpPr/>
          <p:nvPr/>
        </p:nvSpPr>
        <p:spPr>
          <a:xfrm>
            <a:off x="960120" y="2016252"/>
            <a:ext cx="3566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mbria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Météo = facteur majeur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960120" y="2221992"/>
            <a:ext cx="360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Lien fort degrés-jour de chauffage / conso, mais n'explique pas tout.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4"/>
          <p:cNvSpPr/>
          <p:nvPr/>
        </p:nvSpPr>
        <p:spPr>
          <a:xfrm>
            <a:off x="514350" y="2688336"/>
            <a:ext cx="342900" cy="3429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6" name="Google Shape;616;p3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504" y="277749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4"/>
          <p:cNvSpPr/>
          <p:nvPr/>
        </p:nvSpPr>
        <p:spPr>
          <a:xfrm>
            <a:off x="960120" y="2660904"/>
            <a:ext cx="3566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mbria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Disparités par zone &amp; profil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4"/>
          <p:cNvSpPr/>
          <p:nvPr/>
        </p:nvSpPr>
        <p:spPr>
          <a:xfrm>
            <a:off x="960120" y="2866644"/>
            <a:ext cx="360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Zones et clients pro/industriels plus consommateurs ; chauffage élec sensible au froid.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4"/>
          <p:cNvSpPr/>
          <p:nvPr/>
        </p:nvSpPr>
        <p:spPr>
          <a:xfrm>
            <a:off x="514350" y="3332988"/>
            <a:ext cx="342900" cy="3429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0" name="Google Shape;620;p3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3504" y="342214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34"/>
          <p:cNvSpPr/>
          <p:nvPr/>
        </p:nvSpPr>
        <p:spPr>
          <a:xfrm>
            <a:off x="960120" y="3305556"/>
            <a:ext cx="3566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mbria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Incidents réseau cartographiés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4"/>
          <p:cNvSpPr/>
          <p:nvPr/>
        </p:nvSpPr>
        <p:spPr>
          <a:xfrm>
            <a:off x="960120" y="3511296"/>
            <a:ext cx="360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Par zone, type et cause → priorisation de la maintenance (lien descriptif, non causal).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4"/>
          <p:cNvSpPr/>
          <p:nvPr/>
        </p:nvSpPr>
        <p:spPr>
          <a:xfrm>
            <a:off x="514350" y="3977640"/>
            <a:ext cx="342900" cy="3429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4" name="Google Shape;624;p3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3504" y="406679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4"/>
          <p:cNvSpPr/>
          <p:nvPr/>
        </p:nvSpPr>
        <p:spPr>
          <a:xfrm>
            <a:off x="960120" y="3950208"/>
            <a:ext cx="3566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mbria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Lecture relation client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4"/>
          <p:cNvSpPr/>
          <p:nvPr/>
        </p:nvSpPr>
        <p:spPr>
          <a:xfrm>
            <a:off x="960120" y="4155948"/>
            <a:ext cx="360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Volume, canaux et satisfaction des réclamations suivis dans le dashboard.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4"/>
          <p:cNvSpPr/>
          <p:nvPr/>
        </p:nvSpPr>
        <p:spPr>
          <a:xfrm>
            <a:off x="4800600" y="1062990"/>
            <a:ext cx="3840600" cy="1748700"/>
          </a:xfrm>
          <a:prstGeom prst="roundRect">
            <a:avLst>
              <a:gd name="adj" fmla="val 2745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4"/>
          <p:cNvSpPr/>
          <p:nvPr/>
        </p:nvSpPr>
        <p:spPr>
          <a:xfrm>
            <a:off x="5006340" y="1220724"/>
            <a:ext cx="3429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300"/>
              <a:buFont typeface="Cambria"/>
              <a:buNone/>
            </a:pPr>
            <a:r>
              <a:rPr lang="fr" sz="1300" b="1" i="0" u="none" strike="noStrike" cap="none">
                <a:solidFill>
                  <a:srgbClr val="9BD7C9"/>
                </a:solidFill>
                <a:latin typeface="Cambria"/>
                <a:ea typeface="Cambria"/>
                <a:cs typeface="Cambria"/>
                <a:sym typeface="Cambria"/>
              </a:rPr>
              <a:t>Livrables produits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4"/>
          <p:cNvSpPr/>
          <p:nvPr/>
        </p:nvSpPr>
        <p:spPr>
          <a:xfrm>
            <a:off x="5006340" y="1543050"/>
            <a:ext cx="34632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60350" algn="l" rtl="0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Notebook 01 — exploration &amp; contrôle qualité (&gt;500 000 lignes).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60350" algn="l" rtl="0">
              <a:spcBef>
                <a:spcPts val="500"/>
              </a:spcBef>
              <a:spcAft>
                <a:spcPts val="0"/>
              </a:spcAft>
              <a:buClr>
                <a:srgbClr val="E8F1F5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Notebook 02 — nettoyage, consommation_kwh_clean, enrichissement.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60350" algn="l" rtl="0">
              <a:spcBef>
                <a:spcPts val="500"/>
              </a:spcBef>
              <a:spcAft>
                <a:spcPts val="0"/>
              </a:spcAft>
              <a:buClr>
                <a:srgbClr val="E8F1F5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Jeux de données préparés (data_cleaned) + tables agrégées powerbi_*.csv.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60350" algn="l" rtl="0">
              <a:spcBef>
                <a:spcPts val="500"/>
              </a:spcBef>
              <a:spcAft>
                <a:spcPts val="0"/>
              </a:spcAft>
              <a:buClr>
                <a:srgbClr val="E8F1F5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Dashboard décisionnel Projet_Neovolt_Dashboard.pbix par profil métier.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4"/>
          <p:cNvSpPr/>
          <p:nvPr/>
        </p:nvSpPr>
        <p:spPr>
          <a:xfrm>
            <a:off x="4800600" y="2914650"/>
            <a:ext cx="3840600" cy="1714500"/>
          </a:xfrm>
          <a:prstGeom prst="roundRect">
            <a:avLst>
              <a:gd name="adj" fmla="val 2800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34"/>
          <p:cNvSpPr/>
          <p:nvPr/>
        </p:nvSpPr>
        <p:spPr>
          <a:xfrm>
            <a:off x="5006340" y="3051810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7 recommandations métier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4"/>
          <p:cNvSpPr/>
          <p:nvPr/>
        </p:nvSpPr>
        <p:spPr>
          <a:xfrm>
            <a:off x="5006340" y="3360420"/>
            <a:ext cx="34632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Pilotage mensuel &amp; saisonnier de la consommation.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3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Intégrer la météo (DJU) au pilotage opérationnel.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3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Surveiller les zones fortement consommatrices.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3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Suivre les incidents par zone, type et cause.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3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Exploiter les profils horaires (heures de pointe).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3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Ajouter une vue relation client.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3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Renforcer la qualité &amp; la gouvernance des données.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4"/>
          <p:cNvSpPr/>
          <p:nvPr/>
        </p:nvSpPr>
        <p:spPr>
          <a:xfrm>
            <a:off x="480060" y="4697730"/>
            <a:ext cx="408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700"/>
              <a:buFont typeface="Calibri"/>
              <a:buNone/>
            </a:pPr>
            <a:r>
              <a:rPr lang="fr" sz="7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Limites assumées : analyses descriptives (pas de causalité), échantillon horaire limité, données sensibles — outils d'aide à la décision, jamais de décision automatique.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942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5"/>
          <p:cNvSpPr/>
          <p:nvPr/>
        </p:nvSpPr>
        <p:spPr>
          <a:xfrm>
            <a:off x="0" y="0"/>
            <a:ext cx="240000" cy="5143500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35"/>
          <p:cNvSpPr/>
          <p:nvPr/>
        </p:nvSpPr>
        <p:spPr>
          <a:xfrm>
            <a:off x="822982" y="1577340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A23B"/>
              </a:buClr>
              <a:buSzPts val="1200"/>
              <a:buFont typeface="Calibri"/>
              <a:buNone/>
            </a:pPr>
            <a:r>
              <a:rPr lang="fr" sz="1200" b="1" i="0" u="none" strike="noStrike" cap="none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VOLET </a:t>
            </a:r>
            <a:r>
              <a:rPr lang="fr" sz="1200" b="1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5"/>
          <p:cNvSpPr/>
          <p:nvPr/>
        </p:nvSpPr>
        <p:spPr>
          <a:xfrm>
            <a:off x="822982" y="1920240"/>
            <a:ext cx="72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Trebuchet MS"/>
              <a:buNone/>
            </a:pPr>
            <a:r>
              <a:rPr lang="fr" sz="3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science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5"/>
          <p:cNvSpPr/>
          <p:nvPr/>
        </p:nvSpPr>
        <p:spPr>
          <a:xfrm>
            <a:off x="822982" y="2708910"/>
            <a:ext cx="720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E8"/>
              </a:buClr>
              <a:buSzPts val="1400"/>
              <a:buFont typeface="Calibri"/>
              <a:buNone/>
            </a:pPr>
            <a:r>
              <a:rPr lang="fr" sz="1400" b="0" i="0" u="none" strike="noStrike" cap="none">
                <a:solidFill>
                  <a:srgbClr val="CFE0E8"/>
                </a:solidFill>
                <a:latin typeface="Calibri"/>
                <a:ea typeface="Calibri"/>
                <a:cs typeface="Calibri"/>
                <a:sym typeface="Calibri"/>
              </a:rPr>
              <a:t>Prévision de consommation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5"/>
          <p:cNvSpPr/>
          <p:nvPr/>
        </p:nvSpPr>
        <p:spPr>
          <a:xfrm>
            <a:off x="822982" y="3223260"/>
            <a:ext cx="720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A23B"/>
              </a:buClr>
              <a:buSzPts val="1100"/>
              <a:buFont typeface="Calibri"/>
              <a:buNone/>
            </a:pPr>
            <a:r>
              <a:rPr lang="fr" sz="1100" b="1" i="0" u="none" strike="noStrike" cap="none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Sabrina BOUZEKRI &amp; Mohamed Ryad SMAILI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5"/>
          <p:cNvSpPr/>
          <p:nvPr/>
        </p:nvSpPr>
        <p:spPr>
          <a:xfrm>
            <a:off x="7132510" y="1577340"/>
            <a:ext cx="1097400" cy="1097400"/>
          </a:xfrm>
          <a:prstGeom prst="ellipse">
            <a:avLst/>
          </a:prstGeom>
          <a:solidFill>
            <a:srgbClr val="E9A23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5" name="Google Shape;645;p3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4891" y="1829714"/>
            <a:ext cx="592532" cy="592532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5"/>
          <p:cNvSpPr/>
          <p:nvPr/>
        </p:nvSpPr>
        <p:spPr>
          <a:xfrm>
            <a:off x="8641310" y="4766310"/>
            <a:ext cx="342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5"/>
          <p:cNvSpPr/>
          <p:nvPr/>
        </p:nvSpPr>
        <p:spPr>
          <a:xfrm>
            <a:off x="480073" y="476631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Néovolt Grid+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6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VOLET DATA SCIENTIST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Stack technique &amp; démarche de modélisation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6"/>
          <p:cNvSpPr/>
          <p:nvPr/>
        </p:nvSpPr>
        <p:spPr>
          <a:xfrm>
            <a:off x="480060" y="1062990"/>
            <a:ext cx="816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100"/>
              <a:buFont typeface="Calibri"/>
              <a:buNone/>
            </a:pPr>
            <a:r>
              <a:rPr lang="fr" sz="11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Prototype de prévision de la consommation totale journalière (consommation_totale_kwh), construit en 3 notebooks, du dataset à l'évaluation.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6"/>
          <p:cNvSpPr/>
          <p:nvPr/>
        </p:nvSpPr>
        <p:spPr>
          <a:xfrm>
            <a:off x="466344" y="1508760"/>
            <a:ext cx="1933800" cy="1954500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36"/>
          <p:cNvSpPr/>
          <p:nvPr/>
        </p:nvSpPr>
        <p:spPr>
          <a:xfrm>
            <a:off x="1145286" y="1700784"/>
            <a:ext cx="576000" cy="576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8" name="Google Shape;658;p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8730" y="18242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36"/>
          <p:cNvSpPr/>
          <p:nvPr/>
        </p:nvSpPr>
        <p:spPr>
          <a:xfrm>
            <a:off x="1556766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6"/>
          <p:cNvSpPr/>
          <p:nvPr/>
        </p:nvSpPr>
        <p:spPr>
          <a:xfrm>
            <a:off x="569214" y="2318004"/>
            <a:ext cx="1728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Préparation dataset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6"/>
          <p:cNvSpPr/>
          <p:nvPr/>
        </p:nvSpPr>
        <p:spPr>
          <a:xfrm>
            <a:off x="569214" y="2551176"/>
            <a:ext cx="172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Notebook 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6"/>
          <p:cNvSpPr/>
          <p:nvPr/>
        </p:nvSpPr>
        <p:spPr>
          <a:xfrm>
            <a:off x="603504" y="2777490"/>
            <a:ext cx="1659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Agrégation journalière du dataset Data Analyst → dataset_forecast_journalier.csv.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6"/>
          <p:cNvSpPr/>
          <p:nvPr/>
        </p:nvSpPr>
        <p:spPr>
          <a:xfrm rot="5400000">
            <a:off x="2400234" y="2403687"/>
            <a:ext cx="150900" cy="1647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6"/>
          <p:cNvSpPr/>
          <p:nvPr/>
        </p:nvSpPr>
        <p:spPr>
          <a:xfrm>
            <a:off x="2551176" y="1508760"/>
            <a:ext cx="1933800" cy="1954500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36"/>
          <p:cNvSpPr/>
          <p:nvPr/>
        </p:nvSpPr>
        <p:spPr>
          <a:xfrm>
            <a:off x="3230118" y="1700784"/>
            <a:ext cx="576000" cy="576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6" name="Google Shape;666;p3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3562" y="18242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36"/>
          <p:cNvSpPr/>
          <p:nvPr/>
        </p:nvSpPr>
        <p:spPr>
          <a:xfrm>
            <a:off x="3641598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6"/>
          <p:cNvSpPr/>
          <p:nvPr/>
        </p:nvSpPr>
        <p:spPr>
          <a:xfrm>
            <a:off x="2654046" y="2318004"/>
            <a:ext cx="1728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Feature engineering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6"/>
          <p:cNvSpPr/>
          <p:nvPr/>
        </p:nvSpPr>
        <p:spPr>
          <a:xfrm>
            <a:off x="2654046" y="2551176"/>
            <a:ext cx="172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4 familles de variables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6"/>
          <p:cNvSpPr/>
          <p:nvPr/>
        </p:nvSpPr>
        <p:spPr>
          <a:xfrm>
            <a:off x="2688336" y="2777490"/>
            <a:ext cx="1659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Conso, météo (DJU), calendaires, historiques (lags 1/7, rolling 7/14).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6"/>
          <p:cNvSpPr/>
          <p:nvPr/>
        </p:nvSpPr>
        <p:spPr>
          <a:xfrm rot="5400000">
            <a:off x="4485066" y="2403687"/>
            <a:ext cx="150900" cy="1647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6"/>
          <p:cNvSpPr/>
          <p:nvPr/>
        </p:nvSpPr>
        <p:spPr>
          <a:xfrm>
            <a:off x="4636008" y="1508760"/>
            <a:ext cx="1933800" cy="1954500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36"/>
          <p:cNvSpPr/>
          <p:nvPr/>
        </p:nvSpPr>
        <p:spPr>
          <a:xfrm>
            <a:off x="5314950" y="1700784"/>
            <a:ext cx="576000" cy="576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4" name="Google Shape;674;p3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38394" y="18242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6"/>
          <p:cNvSpPr/>
          <p:nvPr/>
        </p:nvSpPr>
        <p:spPr>
          <a:xfrm>
            <a:off x="5726430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6"/>
          <p:cNvSpPr/>
          <p:nvPr/>
        </p:nvSpPr>
        <p:spPr>
          <a:xfrm>
            <a:off x="4738878" y="2318004"/>
            <a:ext cx="1728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Modélisation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6"/>
          <p:cNvSpPr/>
          <p:nvPr/>
        </p:nvSpPr>
        <p:spPr>
          <a:xfrm>
            <a:off x="4738878" y="2551176"/>
            <a:ext cx="172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Notebook 02 · split temporel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6"/>
          <p:cNvSpPr/>
          <p:nvPr/>
        </p:nvSpPr>
        <p:spPr>
          <a:xfrm>
            <a:off x="4773168" y="2777490"/>
            <a:ext cx="1659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Train &lt; 01/10/2025, test après. Baseline J-1 vs Ridge vs Random Forest.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6"/>
          <p:cNvSpPr/>
          <p:nvPr/>
        </p:nvSpPr>
        <p:spPr>
          <a:xfrm rot="5400000">
            <a:off x="6569898" y="2403687"/>
            <a:ext cx="150900" cy="1647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6"/>
          <p:cNvSpPr/>
          <p:nvPr/>
        </p:nvSpPr>
        <p:spPr>
          <a:xfrm>
            <a:off x="6720840" y="1508760"/>
            <a:ext cx="1933800" cy="1954500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36"/>
          <p:cNvSpPr/>
          <p:nvPr/>
        </p:nvSpPr>
        <p:spPr>
          <a:xfrm>
            <a:off x="7399782" y="1700784"/>
            <a:ext cx="576000" cy="5760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2" name="Google Shape;682;p3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3226" y="18242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36"/>
          <p:cNvSpPr/>
          <p:nvPr/>
        </p:nvSpPr>
        <p:spPr>
          <a:xfrm>
            <a:off x="7811262" y="1645920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6"/>
          <p:cNvSpPr/>
          <p:nvPr/>
        </p:nvSpPr>
        <p:spPr>
          <a:xfrm>
            <a:off x="6823710" y="2318004"/>
            <a:ext cx="1728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Évaluation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6"/>
          <p:cNvSpPr/>
          <p:nvPr/>
        </p:nvSpPr>
        <p:spPr>
          <a:xfrm>
            <a:off x="6823710" y="2551176"/>
            <a:ext cx="172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Notebook 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6"/>
          <p:cNvSpPr/>
          <p:nvPr/>
        </p:nvSpPr>
        <p:spPr>
          <a:xfrm>
            <a:off x="6858000" y="2777490"/>
            <a:ext cx="1659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MAE, RMSE, MAPE · réel vs prédit · analyse des erreurs jour par jour.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6"/>
          <p:cNvSpPr/>
          <p:nvPr/>
        </p:nvSpPr>
        <p:spPr>
          <a:xfrm>
            <a:off x="480060" y="366903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Technologies &amp; outils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6"/>
          <p:cNvSpPr/>
          <p:nvPr/>
        </p:nvSpPr>
        <p:spPr>
          <a:xfrm>
            <a:off x="480060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6"/>
          <p:cNvSpPr/>
          <p:nvPr/>
        </p:nvSpPr>
        <p:spPr>
          <a:xfrm>
            <a:off x="630936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0" name="Google Shape;690;p3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090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36"/>
          <p:cNvSpPr/>
          <p:nvPr/>
        </p:nvSpPr>
        <p:spPr>
          <a:xfrm>
            <a:off x="1110996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Notebooks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6"/>
          <p:cNvSpPr/>
          <p:nvPr/>
        </p:nvSpPr>
        <p:spPr>
          <a:xfrm>
            <a:off x="1906524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6"/>
          <p:cNvSpPr/>
          <p:nvPr/>
        </p:nvSpPr>
        <p:spPr>
          <a:xfrm>
            <a:off x="2057400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4" name="Google Shape;694;p3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46554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6"/>
          <p:cNvSpPr/>
          <p:nvPr/>
        </p:nvSpPr>
        <p:spPr>
          <a:xfrm>
            <a:off x="2537460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(pandas)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3332988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6"/>
          <p:cNvSpPr/>
          <p:nvPr/>
        </p:nvSpPr>
        <p:spPr>
          <a:xfrm>
            <a:off x="3483864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8" name="Google Shape;698;p3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73018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6"/>
          <p:cNvSpPr/>
          <p:nvPr/>
        </p:nvSpPr>
        <p:spPr>
          <a:xfrm>
            <a:off x="3963924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(Ridge, RF)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6"/>
          <p:cNvSpPr/>
          <p:nvPr/>
        </p:nvSpPr>
        <p:spPr>
          <a:xfrm>
            <a:off x="4759452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6"/>
          <p:cNvSpPr/>
          <p:nvPr/>
        </p:nvSpPr>
        <p:spPr>
          <a:xfrm>
            <a:off x="4910328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2" name="Google Shape;702;p3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9482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36"/>
          <p:cNvSpPr/>
          <p:nvPr/>
        </p:nvSpPr>
        <p:spPr>
          <a:xfrm>
            <a:off x="5390388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(réel vs prédit)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6"/>
          <p:cNvSpPr/>
          <p:nvPr/>
        </p:nvSpPr>
        <p:spPr>
          <a:xfrm>
            <a:off x="6185916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6"/>
          <p:cNvSpPr/>
          <p:nvPr/>
        </p:nvSpPr>
        <p:spPr>
          <a:xfrm>
            <a:off x="6336792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6" name="Google Shape;706;p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5946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36"/>
          <p:cNvSpPr/>
          <p:nvPr/>
        </p:nvSpPr>
        <p:spPr>
          <a:xfrm>
            <a:off x="6816852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CSV outputs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(dataset, métriques)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6"/>
          <p:cNvSpPr/>
          <p:nvPr/>
        </p:nvSpPr>
        <p:spPr>
          <a:xfrm>
            <a:off x="7612380" y="3977640"/>
            <a:ext cx="1337400" cy="754500"/>
          </a:xfrm>
          <a:prstGeom prst="roundRect">
            <a:avLst>
              <a:gd name="adj" fmla="val 5455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6"/>
          <p:cNvSpPr/>
          <p:nvPr/>
        </p:nvSpPr>
        <p:spPr>
          <a:xfrm>
            <a:off x="7763256" y="414909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0" name="Google Shape;710;p3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52410" y="423824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36"/>
          <p:cNvSpPr/>
          <p:nvPr/>
        </p:nvSpPr>
        <p:spPr>
          <a:xfrm>
            <a:off x="8243316" y="3977640"/>
            <a:ext cx="6516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(versionné, MLOps)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7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VOLET DATA SCIENTIST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7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400"/>
              <a:buFont typeface="Cambria"/>
              <a:buNone/>
            </a:pPr>
            <a:r>
              <a:rPr lang="fr" sz="24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Résultats &amp; livrables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7"/>
          <p:cNvSpPr/>
          <p:nvPr/>
        </p:nvSpPr>
        <p:spPr>
          <a:xfrm>
            <a:off x="480060" y="1062990"/>
            <a:ext cx="4080600" cy="994500"/>
          </a:xfrm>
          <a:prstGeom prst="roundRect">
            <a:avLst>
              <a:gd name="adj" fmla="val 5517"/>
            </a:avLst>
          </a:prstGeom>
          <a:solidFill>
            <a:srgbClr val="0E2A47"/>
          </a:solidFill>
          <a:ln>
            <a:noFill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7"/>
          <p:cNvSpPr/>
          <p:nvPr/>
        </p:nvSpPr>
        <p:spPr>
          <a:xfrm>
            <a:off x="685800" y="1316736"/>
            <a:ext cx="493800" cy="493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1" name="Google Shape;721;p3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528" y="14264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37"/>
          <p:cNvSpPr/>
          <p:nvPr/>
        </p:nvSpPr>
        <p:spPr>
          <a:xfrm>
            <a:off x="1337310" y="1220724"/>
            <a:ext cx="3086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fr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Régression Ridge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7"/>
          <p:cNvSpPr/>
          <p:nvPr/>
        </p:nvSpPr>
        <p:spPr>
          <a:xfrm>
            <a:off x="1337310" y="1577340"/>
            <a:ext cx="312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Modèle retenu — meilleure MAE, bat la baseline J-1 et Random Forest.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7"/>
          <p:cNvSpPr/>
          <p:nvPr/>
        </p:nvSpPr>
        <p:spPr>
          <a:xfrm>
            <a:off x="480060" y="2194560"/>
            <a:ext cx="4080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Comparaison des modèles (MAE)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5" name="Google Shape;725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190" y="2434590"/>
            <a:ext cx="4183500" cy="12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37"/>
          <p:cNvSpPr/>
          <p:nvPr/>
        </p:nvSpPr>
        <p:spPr>
          <a:xfrm>
            <a:off x="480060" y="3703320"/>
            <a:ext cx="4080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Un modèle linéaire régularisé suffit : la structure des données est bien captée, sans la complexité du Random Forest.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7"/>
          <p:cNvSpPr/>
          <p:nvPr/>
        </p:nvSpPr>
        <p:spPr>
          <a:xfrm>
            <a:off x="480060" y="4183380"/>
            <a:ext cx="40806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Pourquoi Ridge : meilleur compromis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7"/>
          <p:cNvSpPr/>
          <p:nvPr/>
        </p:nvSpPr>
        <p:spPr>
          <a:xfrm>
            <a:off x="480060" y="4402836"/>
            <a:ext cx="40806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Performance · Simplicité · Robustesse · Interprétabilité · Sobriété de calcul · Mise en production facilitée.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7"/>
          <p:cNvSpPr/>
          <p:nvPr/>
        </p:nvSpPr>
        <p:spPr>
          <a:xfrm>
            <a:off x="4800600" y="1062990"/>
            <a:ext cx="3840600" cy="1577100"/>
          </a:xfrm>
          <a:prstGeom prst="roundRect">
            <a:avLst>
              <a:gd name="adj" fmla="val 3043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7"/>
          <p:cNvSpPr/>
          <p:nvPr/>
        </p:nvSpPr>
        <p:spPr>
          <a:xfrm>
            <a:off x="5006340" y="1200150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Livrables produits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7"/>
          <p:cNvSpPr/>
          <p:nvPr/>
        </p:nvSpPr>
        <p:spPr>
          <a:xfrm>
            <a:off x="5006340" y="1495044"/>
            <a:ext cx="34632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6035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3 notebooks : préparation, modélisation, évaluation/interprétation.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60350" algn="l" rtl="0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dataset_forecast_journalier.csv (agrégé, léger, versionné).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60350" algn="l" rtl="0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model_forecast_metrics.csv (MAE / RMSE / MAPE par modèle).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60350" algn="l" rtl="0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Char char="•"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Graphiques réel vs prédit &amp; erreurs journalières (Ridge).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7"/>
          <p:cNvSpPr/>
          <p:nvPr/>
        </p:nvSpPr>
        <p:spPr>
          <a:xfrm>
            <a:off x="4800600" y="2743200"/>
            <a:ext cx="3840600" cy="8574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1425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37"/>
          <p:cNvSpPr/>
          <p:nvPr/>
        </p:nvSpPr>
        <p:spPr>
          <a:xfrm>
            <a:off x="5006340" y="2866644"/>
            <a:ext cx="34290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Usage encadré — aide à la décision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7"/>
          <p:cNvSpPr/>
          <p:nvPr/>
        </p:nvSpPr>
        <p:spPr>
          <a:xfrm>
            <a:off x="5006340" y="3099816"/>
            <a:ext cx="34632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Modèle → prévision → tableau de bord → analyse métier → </a:t>
            </a: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décision humaine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.  Jamais connecté au SCADA, jamais de décision automatique.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7"/>
          <p:cNvSpPr/>
          <p:nvPr/>
        </p:nvSpPr>
        <p:spPr>
          <a:xfrm>
            <a:off x="4800600" y="3703320"/>
            <a:ext cx="3840600" cy="1179600"/>
          </a:xfrm>
          <a:prstGeom prst="roundRect">
            <a:avLst>
              <a:gd name="adj" fmla="val 4070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6" name="Google Shape;736;p3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92624" y="384048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37"/>
          <p:cNvSpPr/>
          <p:nvPr/>
        </p:nvSpPr>
        <p:spPr>
          <a:xfrm>
            <a:off x="5294376" y="3826764"/>
            <a:ext cx="3086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9BD7C9"/>
                </a:solidFill>
                <a:latin typeface="Cambria"/>
                <a:ea typeface="Cambria"/>
                <a:cs typeface="Cambria"/>
                <a:sym typeface="Cambria"/>
              </a:rPr>
              <a:t>Limites assumées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7"/>
          <p:cNvSpPr/>
          <p:nvPr/>
        </p:nvSpPr>
        <p:spPr>
          <a:xfrm>
            <a:off x="5006340" y="4114800"/>
            <a:ext cx="34632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Modèle global journalier (pas de niveau zone/client).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30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Météo observée, non prévisionnelle ; 2 ans d'historique.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30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Variables externes absentes (jours fériés, vacances…).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30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Industrialisation : pipeline auto, monitoring, réentraînement.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942"/>
        </a:solidFill>
        <a:effectLst/>
      </p:bgPr>
    </p:bg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8"/>
          <p:cNvSpPr/>
          <p:nvPr/>
        </p:nvSpPr>
        <p:spPr>
          <a:xfrm>
            <a:off x="0" y="0"/>
            <a:ext cx="240000" cy="51435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8"/>
          <p:cNvSpPr/>
          <p:nvPr/>
        </p:nvSpPr>
        <p:spPr>
          <a:xfrm>
            <a:off x="822982" y="1577340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5C"/>
              </a:buClr>
              <a:buSzPts val="1200"/>
              <a:buFont typeface="Calibri"/>
              <a:buNone/>
            </a:pPr>
            <a:r>
              <a:rPr lang="fr" sz="1200" b="1" i="0" u="none" strike="noStrike" cap="none">
                <a:solidFill>
                  <a:srgbClr val="0F4C5C"/>
                </a:solidFill>
                <a:latin typeface="Calibri"/>
                <a:ea typeface="Calibri"/>
                <a:cs typeface="Calibri"/>
                <a:sym typeface="Calibri"/>
              </a:rPr>
              <a:t>VOLET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8"/>
          <p:cNvSpPr/>
          <p:nvPr/>
        </p:nvSpPr>
        <p:spPr>
          <a:xfrm>
            <a:off x="822982" y="1920240"/>
            <a:ext cx="72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Trebuchet MS"/>
              <a:buNone/>
            </a:pPr>
            <a:r>
              <a:rPr lang="fr" sz="3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Génie logiciel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8"/>
          <p:cNvSpPr/>
          <p:nvPr/>
        </p:nvSpPr>
        <p:spPr>
          <a:xfrm>
            <a:off x="822982" y="2708910"/>
            <a:ext cx="720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E8"/>
              </a:buClr>
              <a:buSzPts val="1400"/>
              <a:buFont typeface="Calibri"/>
              <a:buNone/>
            </a:pPr>
            <a:r>
              <a:rPr lang="fr" sz="1400" b="0" i="0" u="none" strike="noStrike" cap="none">
                <a:solidFill>
                  <a:srgbClr val="CFE0E8"/>
                </a:solidFill>
                <a:latin typeface="Calibri"/>
                <a:ea typeface="Calibri"/>
                <a:cs typeface="Calibri"/>
                <a:sym typeface="Calibri"/>
              </a:rPr>
              <a:t>Pipeline, base, API, déploiement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8"/>
          <p:cNvSpPr/>
          <p:nvPr/>
        </p:nvSpPr>
        <p:spPr>
          <a:xfrm>
            <a:off x="822982" y="3223260"/>
            <a:ext cx="720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4C5C"/>
              </a:buClr>
              <a:buSzPts val="1100"/>
              <a:buFont typeface="Calibri"/>
              <a:buNone/>
            </a:pPr>
            <a:r>
              <a:rPr lang="fr" sz="1100" b="1" i="0" u="none" strike="noStrike" cap="none">
                <a:solidFill>
                  <a:srgbClr val="0F4C5C"/>
                </a:solidFill>
                <a:latin typeface="Calibri"/>
                <a:ea typeface="Calibri"/>
                <a:cs typeface="Calibri"/>
                <a:sym typeface="Calibri"/>
              </a:rPr>
              <a:t>Sofiane MAHMOUDI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8"/>
          <p:cNvSpPr/>
          <p:nvPr/>
        </p:nvSpPr>
        <p:spPr>
          <a:xfrm>
            <a:off x="7132510" y="1577340"/>
            <a:ext cx="1097400" cy="10974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0" name="Google Shape;750;p3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4891" y="1829714"/>
            <a:ext cx="592532" cy="592532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38"/>
          <p:cNvSpPr/>
          <p:nvPr/>
        </p:nvSpPr>
        <p:spPr>
          <a:xfrm>
            <a:off x="8641310" y="4766310"/>
            <a:ext cx="342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8"/>
          <p:cNvSpPr/>
          <p:nvPr/>
        </p:nvSpPr>
        <p:spPr>
          <a:xfrm>
            <a:off x="480073" y="476631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Néovolt Grid+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9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VOLET D — INGÉNIERIE &amp; DATA ENGINEERING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9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300"/>
              <a:buFont typeface="Cambria"/>
              <a:buNone/>
            </a:pPr>
            <a:r>
              <a:rPr lang="fr" sz="23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Stack technique &amp; architecture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9"/>
          <p:cNvSpPr/>
          <p:nvPr/>
        </p:nvSpPr>
        <p:spPr>
          <a:xfrm>
            <a:off x="480060" y="1028700"/>
            <a:ext cx="816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lang="fr" sz="10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La fondation technique du programme : ingestion des CSV, stockage PostgreSQL, exposition via API REST et pilotage par l'interface Pipeline Studio.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9"/>
          <p:cNvSpPr/>
          <p:nvPr/>
        </p:nvSpPr>
        <p:spPr>
          <a:xfrm>
            <a:off x="480060" y="1371600"/>
            <a:ext cx="41148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Composants &amp; technologies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9"/>
          <p:cNvSpPr/>
          <p:nvPr/>
        </p:nvSpPr>
        <p:spPr>
          <a:xfrm>
            <a:off x="480060" y="1680210"/>
            <a:ext cx="2002500" cy="630900"/>
          </a:xfrm>
          <a:prstGeom prst="roundRect">
            <a:avLst>
              <a:gd name="adj" fmla="val 6522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9"/>
          <p:cNvSpPr/>
          <p:nvPr/>
        </p:nvSpPr>
        <p:spPr>
          <a:xfrm>
            <a:off x="630936" y="1824228"/>
            <a:ext cx="342900" cy="3429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4" name="Google Shape;764;p3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1906524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39"/>
          <p:cNvSpPr/>
          <p:nvPr/>
        </p:nvSpPr>
        <p:spPr>
          <a:xfrm>
            <a:off x="1062990" y="1789938"/>
            <a:ext cx="13167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LANGAGE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9"/>
          <p:cNvSpPr/>
          <p:nvPr/>
        </p:nvSpPr>
        <p:spPr>
          <a:xfrm>
            <a:off x="1062990" y="1968246"/>
            <a:ext cx="131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9"/>
          <p:cNvSpPr/>
          <p:nvPr/>
        </p:nvSpPr>
        <p:spPr>
          <a:xfrm>
            <a:off x="2592324" y="1680210"/>
            <a:ext cx="2002500" cy="630900"/>
          </a:xfrm>
          <a:prstGeom prst="roundRect">
            <a:avLst>
              <a:gd name="adj" fmla="val 6522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9"/>
          <p:cNvSpPr/>
          <p:nvPr/>
        </p:nvSpPr>
        <p:spPr>
          <a:xfrm>
            <a:off x="2743200" y="1824228"/>
            <a:ext cx="342900" cy="3429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9" name="Google Shape;769;p3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25496" y="1906524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39"/>
          <p:cNvSpPr/>
          <p:nvPr/>
        </p:nvSpPr>
        <p:spPr>
          <a:xfrm>
            <a:off x="3175254" y="1789938"/>
            <a:ext cx="13167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9"/>
          <p:cNvSpPr/>
          <p:nvPr/>
        </p:nvSpPr>
        <p:spPr>
          <a:xfrm>
            <a:off x="3175254" y="1968246"/>
            <a:ext cx="131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FastAPI + Uvicorn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9"/>
          <p:cNvSpPr/>
          <p:nvPr/>
        </p:nvSpPr>
        <p:spPr>
          <a:xfrm>
            <a:off x="480060" y="2393442"/>
            <a:ext cx="2002500" cy="630900"/>
          </a:xfrm>
          <a:prstGeom prst="roundRect">
            <a:avLst>
              <a:gd name="adj" fmla="val 6522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9"/>
          <p:cNvSpPr/>
          <p:nvPr/>
        </p:nvSpPr>
        <p:spPr>
          <a:xfrm>
            <a:off x="630936" y="2537460"/>
            <a:ext cx="342900" cy="3429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4" name="Google Shape;774;p3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3232" y="2619756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9"/>
          <p:cNvSpPr/>
          <p:nvPr/>
        </p:nvSpPr>
        <p:spPr>
          <a:xfrm>
            <a:off x="1062990" y="2503170"/>
            <a:ext cx="13167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BASE DE DONNÉES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9"/>
          <p:cNvSpPr/>
          <p:nvPr/>
        </p:nvSpPr>
        <p:spPr>
          <a:xfrm>
            <a:off x="1062990" y="2681478"/>
            <a:ext cx="131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9"/>
          <p:cNvSpPr/>
          <p:nvPr/>
        </p:nvSpPr>
        <p:spPr>
          <a:xfrm>
            <a:off x="2592324" y="2393442"/>
            <a:ext cx="2002500" cy="630900"/>
          </a:xfrm>
          <a:prstGeom prst="roundRect">
            <a:avLst>
              <a:gd name="adj" fmla="val 6522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9"/>
          <p:cNvSpPr/>
          <p:nvPr/>
        </p:nvSpPr>
        <p:spPr>
          <a:xfrm>
            <a:off x="2743200" y="2537460"/>
            <a:ext cx="342900" cy="3429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9" name="Google Shape;779;p3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25496" y="2619756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39"/>
          <p:cNvSpPr/>
          <p:nvPr/>
        </p:nvSpPr>
        <p:spPr>
          <a:xfrm>
            <a:off x="3175254" y="2503170"/>
            <a:ext cx="13167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9"/>
          <p:cNvSpPr/>
          <p:nvPr/>
        </p:nvSpPr>
        <p:spPr>
          <a:xfrm>
            <a:off x="3175254" y="2681478"/>
            <a:ext cx="131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SQLAlchemy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9"/>
          <p:cNvSpPr/>
          <p:nvPr/>
        </p:nvSpPr>
        <p:spPr>
          <a:xfrm>
            <a:off x="480060" y="3106674"/>
            <a:ext cx="2002500" cy="630900"/>
          </a:xfrm>
          <a:prstGeom prst="roundRect">
            <a:avLst>
              <a:gd name="adj" fmla="val 6522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39"/>
          <p:cNvSpPr/>
          <p:nvPr/>
        </p:nvSpPr>
        <p:spPr>
          <a:xfrm>
            <a:off x="630936" y="3250692"/>
            <a:ext cx="342900" cy="3429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4" name="Google Shape;784;p3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232" y="3332988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39"/>
          <p:cNvSpPr/>
          <p:nvPr/>
        </p:nvSpPr>
        <p:spPr>
          <a:xfrm>
            <a:off x="1062990" y="3216402"/>
            <a:ext cx="13167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9"/>
          <p:cNvSpPr/>
          <p:nvPr/>
        </p:nvSpPr>
        <p:spPr>
          <a:xfrm>
            <a:off x="1062990" y="3394710"/>
            <a:ext cx="131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Pandas (CSV → tables)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9"/>
          <p:cNvSpPr/>
          <p:nvPr/>
        </p:nvSpPr>
        <p:spPr>
          <a:xfrm>
            <a:off x="2592324" y="3106674"/>
            <a:ext cx="2002500" cy="630900"/>
          </a:xfrm>
          <a:prstGeom prst="roundRect">
            <a:avLst>
              <a:gd name="adj" fmla="val 6522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9"/>
          <p:cNvSpPr/>
          <p:nvPr/>
        </p:nvSpPr>
        <p:spPr>
          <a:xfrm>
            <a:off x="2743200" y="3250692"/>
            <a:ext cx="342900" cy="3429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9" name="Google Shape;789;p3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25496" y="3332988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9"/>
          <p:cNvSpPr/>
          <p:nvPr/>
        </p:nvSpPr>
        <p:spPr>
          <a:xfrm>
            <a:off x="3175254" y="3216402"/>
            <a:ext cx="13167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DÉPLOIEMENT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9"/>
          <p:cNvSpPr/>
          <p:nvPr/>
        </p:nvSpPr>
        <p:spPr>
          <a:xfrm>
            <a:off x="3175254" y="3394710"/>
            <a:ext cx="131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9"/>
          <p:cNvSpPr/>
          <p:nvPr/>
        </p:nvSpPr>
        <p:spPr>
          <a:xfrm>
            <a:off x="480060" y="3819906"/>
            <a:ext cx="2002500" cy="630900"/>
          </a:xfrm>
          <a:prstGeom prst="roundRect">
            <a:avLst>
              <a:gd name="adj" fmla="val 6522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39"/>
          <p:cNvSpPr/>
          <p:nvPr/>
        </p:nvSpPr>
        <p:spPr>
          <a:xfrm>
            <a:off x="630936" y="3963924"/>
            <a:ext cx="342900" cy="3429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4" name="Google Shape;794;p3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3232" y="4046220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39"/>
          <p:cNvSpPr/>
          <p:nvPr/>
        </p:nvSpPr>
        <p:spPr>
          <a:xfrm>
            <a:off x="1062990" y="3929634"/>
            <a:ext cx="13167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9"/>
          <p:cNvSpPr/>
          <p:nvPr/>
        </p:nvSpPr>
        <p:spPr>
          <a:xfrm>
            <a:off x="1062990" y="4107942"/>
            <a:ext cx="131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HTML/JS — Pipeline Studio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9"/>
          <p:cNvSpPr/>
          <p:nvPr/>
        </p:nvSpPr>
        <p:spPr>
          <a:xfrm>
            <a:off x="2592324" y="3819906"/>
            <a:ext cx="2002500" cy="630900"/>
          </a:xfrm>
          <a:prstGeom prst="roundRect">
            <a:avLst>
              <a:gd name="adj" fmla="val 6522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9"/>
          <p:cNvSpPr/>
          <p:nvPr/>
        </p:nvSpPr>
        <p:spPr>
          <a:xfrm>
            <a:off x="2743200" y="3963924"/>
            <a:ext cx="342900" cy="3429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9" name="Google Shape;799;p3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825496" y="4046220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39"/>
          <p:cNvSpPr/>
          <p:nvPr/>
        </p:nvSpPr>
        <p:spPr>
          <a:xfrm>
            <a:off x="3175254" y="3929634"/>
            <a:ext cx="13167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9"/>
          <p:cNvSpPr/>
          <p:nvPr/>
        </p:nvSpPr>
        <p:spPr>
          <a:xfrm>
            <a:off x="3175254" y="4107942"/>
            <a:ext cx="131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python-multipart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9"/>
          <p:cNvSpPr/>
          <p:nvPr/>
        </p:nvSpPr>
        <p:spPr>
          <a:xfrm>
            <a:off x="4834890" y="1371600"/>
            <a:ext cx="3806100" cy="3429000"/>
          </a:xfrm>
          <a:prstGeom prst="roundRect">
            <a:avLst>
              <a:gd name="adj" fmla="val 1600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9"/>
          <p:cNvSpPr/>
          <p:nvPr/>
        </p:nvSpPr>
        <p:spPr>
          <a:xfrm>
            <a:off x="5040630" y="1522476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9BD7C9"/>
                </a:solidFill>
                <a:latin typeface="Cambria"/>
                <a:ea typeface="Cambria"/>
                <a:cs typeface="Cambria"/>
                <a:sym typeface="Cambria"/>
              </a:rPr>
              <a:t>Architecture du pipeline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9"/>
          <p:cNvSpPr/>
          <p:nvPr/>
        </p:nvSpPr>
        <p:spPr>
          <a:xfrm>
            <a:off x="5040630" y="1851660"/>
            <a:ext cx="3394800" cy="480300"/>
          </a:xfrm>
          <a:prstGeom prst="roundRect">
            <a:avLst>
              <a:gd name="adj" fmla="val 8571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9"/>
          <p:cNvSpPr/>
          <p:nvPr/>
        </p:nvSpPr>
        <p:spPr>
          <a:xfrm>
            <a:off x="5212080" y="1851660"/>
            <a:ext cx="3051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Sources CSV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donnees/ ou upload staging/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9"/>
          <p:cNvSpPr/>
          <p:nvPr/>
        </p:nvSpPr>
        <p:spPr>
          <a:xfrm rot="5400000">
            <a:off x="6648915" y="2345412"/>
            <a:ext cx="178200" cy="1371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9"/>
          <p:cNvSpPr/>
          <p:nvPr/>
        </p:nvSpPr>
        <p:spPr>
          <a:xfrm>
            <a:off x="5040630" y="2551176"/>
            <a:ext cx="3394800" cy="48030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39"/>
          <p:cNvSpPr/>
          <p:nvPr/>
        </p:nvSpPr>
        <p:spPr>
          <a:xfrm>
            <a:off x="5212080" y="2551176"/>
            <a:ext cx="3051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pipeline/ingest.py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validation des colonnes avant import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9"/>
          <p:cNvSpPr/>
          <p:nvPr/>
        </p:nvSpPr>
        <p:spPr>
          <a:xfrm rot="5400000">
            <a:off x="6648915" y="3044928"/>
            <a:ext cx="178200" cy="1371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9"/>
          <p:cNvSpPr/>
          <p:nvPr/>
        </p:nvSpPr>
        <p:spPr>
          <a:xfrm>
            <a:off x="5040630" y="3250692"/>
            <a:ext cx="3394800" cy="48030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9"/>
          <p:cNvSpPr/>
          <p:nvPr/>
        </p:nvSpPr>
        <p:spPr>
          <a:xfrm>
            <a:off x="5212080" y="3250692"/>
            <a:ext cx="3051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tables métier + ingestion_logs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9"/>
          <p:cNvSpPr/>
          <p:nvPr/>
        </p:nvSpPr>
        <p:spPr>
          <a:xfrm rot="5400000">
            <a:off x="6648915" y="3744444"/>
            <a:ext cx="178200" cy="1371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9"/>
          <p:cNvSpPr/>
          <p:nvPr/>
        </p:nvSpPr>
        <p:spPr>
          <a:xfrm>
            <a:off x="5040630" y="3950208"/>
            <a:ext cx="3394800" cy="480300"/>
          </a:xfrm>
          <a:prstGeom prst="roundRect">
            <a:avLst>
              <a:gd name="adj" fmla="val 8571"/>
            </a:avLst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9"/>
          <p:cNvSpPr/>
          <p:nvPr/>
        </p:nvSpPr>
        <p:spPr>
          <a:xfrm>
            <a:off x="5212080" y="3950208"/>
            <a:ext cx="3051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REST :8000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FastAPI + Swagger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9"/>
          <p:cNvSpPr/>
          <p:nvPr/>
        </p:nvSpPr>
        <p:spPr>
          <a:xfrm rot="5400000">
            <a:off x="6648915" y="4443960"/>
            <a:ext cx="178200" cy="137100"/>
          </a:xfrm>
          <a:prstGeom prst="rtTriangle">
            <a:avLst/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9"/>
          <p:cNvSpPr/>
          <p:nvPr/>
        </p:nvSpPr>
        <p:spPr>
          <a:xfrm>
            <a:off x="5040630" y="4649724"/>
            <a:ext cx="3394800" cy="425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39"/>
          <p:cNvSpPr/>
          <p:nvPr/>
        </p:nvSpPr>
        <p:spPr>
          <a:xfrm>
            <a:off x="5212080" y="4649724"/>
            <a:ext cx="30519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Calibri"/>
              <a:buNone/>
            </a:pPr>
            <a:r>
              <a:rPr lang="fr" sz="9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Volets B · C · 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analyse, modèle, audit cyber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0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VOLET D — INGÉNIERIE &amp; DATA ENGINEERING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0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300"/>
              <a:buFont typeface="Cambria"/>
              <a:buNone/>
            </a:pPr>
            <a:r>
              <a:rPr lang="fr" sz="23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Résultats &amp; livrables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0"/>
          <p:cNvSpPr/>
          <p:nvPr/>
        </p:nvSpPr>
        <p:spPr>
          <a:xfrm>
            <a:off x="480060" y="106299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Livrables réalisés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6" name="Google Shape;826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" y="13853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40"/>
          <p:cNvSpPr/>
          <p:nvPr/>
        </p:nvSpPr>
        <p:spPr>
          <a:xfrm>
            <a:off x="822960" y="1371600"/>
            <a:ext cx="37032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Architecture technique documentée.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8" name="Google Shape;828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" y="17419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40"/>
          <p:cNvSpPr/>
          <p:nvPr/>
        </p:nvSpPr>
        <p:spPr>
          <a:xfrm>
            <a:off x="822960" y="1728216"/>
            <a:ext cx="37032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Pipeline d'ingestion batch (4 fichiers CSV).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0" name="Google Shape;830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" y="209854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40"/>
          <p:cNvSpPr/>
          <p:nvPr/>
        </p:nvSpPr>
        <p:spPr>
          <a:xfrm>
            <a:off x="822960" y="2084832"/>
            <a:ext cx="37032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API FastAPI avec documentation Swagger.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2" name="Google Shape;832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" y="245516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40"/>
          <p:cNvSpPr/>
          <p:nvPr/>
        </p:nvSpPr>
        <p:spPr>
          <a:xfrm>
            <a:off x="822960" y="2441448"/>
            <a:ext cx="37032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Déploiement Docker reproductible (docker compose up).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4" name="Google Shape;834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" y="281178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40"/>
          <p:cNvSpPr/>
          <p:nvPr/>
        </p:nvSpPr>
        <p:spPr>
          <a:xfrm>
            <a:off x="822960" y="2798064"/>
            <a:ext cx="37032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Journal ingestion_logs (succès / erreur / timestamp).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6" name="Google Shape;836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" y="316839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40"/>
          <p:cNvSpPr/>
          <p:nvPr/>
        </p:nvSpPr>
        <p:spPr>
          <a:xfrm>
            <a:off x="822960" y="3154680"/>
            <a:ext cx="37032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Validation des colonnes CSV avant import.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8" name="Google Shape;838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350" y="35250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40"/>
          <p:cNvSpPr/>
          <p:nvPr/>
        </p:nvSpPr>
        <p:spPr>
          <a:xfrm>
            <a:off x="822960" y="3511296"/>
            <a:ext cx="37032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lang="fr" sz="9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Upload de fichiers par étape (style Data Factory).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0"/>
          <p:cNvSpPr/>
          <p:nvPr/>
        </p:nvSpPr>
        <p:spPr>
          <a:xfrm>
            <a:off x="480060" y="3943350"/>
            <a:ext cx="4080600" cy="96000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40"/>
          <p:cNvSpPr/>
          <p:nvPr/>
        </p:nvSpPr>
        <p:spPr>
          <a:xfrm>
            <a:off x="651510" y="4059936"/>
            <a:ext cx="3771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Pipeline Studio — pilotage sans coder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0"/>
          <p:cNvSpPr/>
          <p:nvPr/>
        </p:nvSpPr>
        <p:spPr>
          <a:xfrm>
            <a:off x="651510" y="4306824"/>
            <a:ext cx="37719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Lancer tout le pipeline (4 étapes) · Charger un CSV custom · Vérifier les colonnes sans import · Run d'une seule étape · suivi des statuts en direct.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0"/>
          <p:cNvSpPr/>
          <p:nvPr/>
        </p:nvSpPr>
        <p:spPr>
          <a:xfrm>
            <a:off x="4800600" y="1062990"/>
            <a:ext cx="3840600" cy="2091600"/>
          </a:xfrm>
          <a:prstGeom prst="roundRect">
            <a:avLst>
              <a:gd name="adj" fmla="val 2295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4" name="Google Shape;844;p4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2624" y="120700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40"/>
          <p:cNvSpPr/>
          <p:nvPr/>
        </p:nvSpPr>
        <p:spPr>
          <a:xfrm>
            <a:off x="5308092" y="1193292"/>
            <a:ext cx="315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9BD7C9"/>
                </a:solidFill>
                <a:latin typeface="Cambria"/>
                <a:ea typeface="Cambria"/>
                <a:cs typeface="Cambria"/>
                <a:sym typeface="Cambria"/>
              </a:rPr>
              <a:t>API REST — principaux endpoints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0"/>
          <p:cNvSpPr/>
          <p:nvPr/>
        </p:nvSpPr>
        <p:spPr>
          <a:xfrm>
            <a:off x="5006340" y="1543050"/>
            <a:ext cx="425100" cy="20580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40"/>
          <p:cNvSpPr/>
          <p:nvPr/>
        </p:nvSpPr>
        <p:spPr>
          <a:xfrm>
            <a:off x="5006340" y="1543050"/>
            <a:ext cx="425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lang="fr" sz="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0"/>
          <p:cNvSpPr/>
          <p:nvPr/>
        </p:nvSpPr>
        <p:spPr>
          <a:xfrm>
            <a:off x="5500116" y="1529334"/>
            <a:ext cx="30861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/health  </a:t>
            </a:r>
            <a:r>
              <a:rPr lang="fr" sz="7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— santé API + BDD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0"/>
          <p:cNvSpPr/>
          <p:nvPr/>
        </p:nvSpPr>
        <p:spPr>
          <a:xfrm>
            <a:off x="5006340" y="1800225"/>
            <a:ext cx="425100" cy="20580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40"/>
          <p:cNvSpPr/>
          <p:nvPr/>
        </p:nvSpPr>
        <p:spPr>
          <a:xfrm>
            <a:off x="5006340" y="1800225"/>
            <a:ext cx="425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lang="fr" sz="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0"/>
          <p:cNvSpPr/>
          <p:nvPr/>
        </p:nvSpPr>
        <p:spPr>
          <a:xfrm>
            <a:off x="5500116" y="1786509"/>
            <a:ext cx="30861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/api/v1/stats  </a:t>
            </a:r>
            <a:r>
              <a:rPr lang="fr" sz="7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— compteurs / relevés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0"/>
          <p:cNvSpPr/>
          <p:nvPr/>
        </p:nvSpPr>
        <p:spPr>
          <a:xfrm>
            <a:off x="5006340" y="2057400"/>
            <a:ext cx="425100" cy="20580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0"/>
          <p:cNvSpPr/>
          <p:nvPr/>
        </p:nvSpPr>
        <p:spPr>
          <a:xfrm>
            <a:off x="5006340" y="2057400"/>
            <a:ext cx="425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lang="fr" sz="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0"/>
          <p:cNvSpPr/>
          <p:nvPr/>
        </p:nvSpPr>
        <p:spPr>
          <a:xfrm>
            <a:off x="5500116" y="2043684"/>
            <a:ext cx="30861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/api/v1/pdl  </a:t>
            </a:r>
            <a:r>
              <a:rPr lang="fr" sz="7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— liste des compteurs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0"/>
          <p:cNvSpPr/>
          <p:nvPr/>
        </p:nvSpPr>
        <p:spPr>
          <a:xfrm>
            <a:off x="5006340" y="2314575"/>
            <a:ext cx="425100" cy="20580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40"/>
          <p:cNvSpPr/>
          <p:nvPr/>
        </p:nvSpPr>
        <p:spPr>
          <a:xfrm>
            <a:off x="5006340" y="2314575"/>
            <a:ext cx="425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lang="fr" sz="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0"/>
          <p:cNvSpPr/>
          <p:nvPr/>
        </p:nvSpPr>
        <p:spPr>
          <a:xfrm>
            <a:off x="5500116" y="2300859"/>
            <a:ext cx="30861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/api/v1/ingestion/logs  </a:t>
            </a:r>
            <a:r>
              <a:rPr lang="fr" sz="7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— journal des imports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0"/>
          <p:cNvSpPr/>
          <p:nvPr/>
        </p:nvSpPr>
        <p:spPr>
          <a:xfrm>
            <a:off x="5006340" y="2571750"/>
            <a:ext cx="425100" cy="20580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40"/>
          <p:cNvSpPr/>
          <p:nvPr/>
        </p:nvSpPr>
        <p:spPr>
          <a:xfrm>
            <a:off x="5006340" y="2571750"/>
            <a:ext cx="425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lang="fr" sz="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0"/>
          <p:cNvSpPr/>
          <p:nvPr/>
        </p:nvSpPr>
        <p:spPr>
          <a:xfrm>
            <a:off x="5500116" y="2558034"/>
            <a:ext cx="30861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/api/v1/pipeline/run  </a:t>
            </a:r>
            <a:r>
              <a:rPr lang="fr" sz="7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— lancer le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0"/>
          <p:cNvSpPr/>
          <p:nvPr/>
        </p:nvSpPr>
        <p:spPr>
          <a:xfrm>
            <a:off x="5006340" y="2828925"/>
            <a:ext cx="425100" cy="20580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40"/>
          <p:cNvSpPr/>
          <p:nvPr/>
        </p:nvSpPr>
        <p:spPr>
          <a:xfrm>
            <a:off x="5006340" y="2828925"/>
            <a:ext cx="4251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lang="fr" sz="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0"/>
          <p:cNvSpPr/>
          <p:nvPr/>
        </p:nvSpPr>
        <p:spPr>
          <a:xfrm>
            <a:off x="5500116" y="2815209"/>
            <a:ext cx="30861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/api/v1/pipeline/steps/{id}/upload  </a:t>
            </a:r>
            <a:r>
              <a:rPr lang="fr" sz="70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— upload CSV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0"/>
          <p:cNvSpPr/>
          <p:nvPr/>
        </p:nvSpPr>
        <p:spPr>
          <a:xfrm>
            <a:off x="4800600" y="3257550"/>
            <a:ext cx="3840600" cy="16458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5" name="Google Shape;865;p4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92624" y="339471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40"/>
          <p:cNvSpPr/>
          <p:nvPr/>
        </p:nvSpPr>
        <p:spPr>
          <a:xfrm>
            <a:off x="5308092" y="3380994"/>
            <a:ext cx="315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Modèle de données &amp; traçabilité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0"/>
          <p:cNvSpPr/>
          <p:nvPr/>
        </p:nvSpPr>
        <p:spPr>
          <a:xfrm>
            <a:off x="5006340" y="3703320"/>
            <a:ext cx="3463200" cy="11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ingestion_logs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 : id, fichier, table_cible, statut, message_erreur, lignes_ingerees, ingestion_timestamp.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E2A47"/>
              </a:buClr>
              <a:buSzPts val="800"/>
              <a:buFont typeface="Calibri"/>
              <a:buNone/>
            </a:pPr>
            <a:r>
              <a:rPr lang="fr" sz="8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Tables métier</a:t>
            </a: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 : id (PK), ingestion_timestamp, ingestion_log_id + colonnes CSV.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5A6B78"/>
              </a:buClr>
              <a:buSzPts val="800"/>
              <a:buFont typeface="Calibri"/>
              <a:buNone/>
            </a:pPr>
            <a:r>
              <a:rPr lang="fr" sz="8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Chaque import est tracé (succès / erreur / horodatage) → reproductibilité et reprise faciles.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942"/>
        </a:solidFill>
        <a:effectLst/>
      </p:bgPr>
    </p:bg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41"/>
          <p:cNvSpPr/>
          <p:nvPr/>
        </p:nvSpPr>
        <p:spPr>
          <a:xfrm>
            <a:off x="0" y="0"/>
            <a:ext cx="240000" cy="5143500"/>
          </a:xfrm>
          <a:prstGeom prst="rect">
            <a:avLst/>
          </a:prstGeom>
          <a:solidFill>
            <a:srgbClr val="16987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41"/>
          <p:cNvSpPr/>
          <p:nvPr/>
        </p:nvSpPr>
        <p:spPr>
          <a:xfrm>
            <a:off x="822982" y="1577340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9873"/>
              </a:buClr>
              <a:buSzPts val="1200"/>
              <a:buFont typeface="Calibri"/>
              <a:buNone/>
            </a:pPr>
            <a:r>
              <a:rPr lang="fr" sz="1200" b="1" i="0" u="none" strike="noStrike" cap="none">
                <a:solidFill>
                  <a:srgbClr val="169873"/>
                </a:solidFill>
                <a:latin typeface="Calibri"/>
                <a:ea typeface="Calibri"/>
                <a:cs typeface="Calibri"/>
                <a:sym typeface="Calibri"/>
              </a:rPr>
              <a:t>VOLET </a:t>
            </a:r>
            <a:r>
              <a:rPr lang="fr" sz="1200" b="1">
                <a:solidFill>
                  <a:srgbClr val="16987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1"/>
          <p:cNvSpPr/>
          <p:nvPr/>
        </p:nvSpPr>
        <p:spPr>
          <a:xfrm>
            <a:off x="822982" y="1920240"/>
            <a:ext cx="72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Trebuchet MS"/>
              <a:buNone/>
            </a:pPr>
            <a:r>
              <a:rPr lang="fr" sz="35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Cybersécurité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1"/>
          <p:cNvSpPr/>
          <p:nvPr/>
        </p:nvSpPr>
        <p:spPr>
          <a:xfrm>
            <a:off x="822982" y="2708910"/>
            <a:ext cx="720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E8"/>
              </a:buClr>
              <a:buSzPts val="1400"/>
              <a:buFont typeface="Calibri"/>
              <a:buNone/>
            </a:pPr>
            <a:r>
              <a:rPr lang="fr" sz="1400" b="0" i="0" u="none" strike="noStrike" cap="none">
                <a:solidFill>
                  <a:srgbClr val="CFE0E8"/>
                </a:solidFill>
                <a:latin typeface="Calibri"/>
                <a:ea typeface="Calibri"/>
                <a:cs typeface="Calibri"/>
                <a:sym typeface="Calibri"/>
              </a:rPr>
              <a:t>Risques, détection, conformité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1"/>
          <p:cNvSpPr/>
          <p:nvPr/>
        </p:nvSpPr>
        <p:spPr>
          <a:xfrm>
            <a:off x="822982" y="3223260"/>
            <a:ext cx="7201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9873"/>
              </a:buClr>
              <a:buSzPts val="1100"/>
              <a:buFont typeface="Calibri"/>
              <a:buNone/>
            </a:pPr>
            <a:r>
              <a:rPr lang="fr" sz="1100" b="1" i="0" u="none" strike="noStrike" cap="none">
                <a:solidFill>
                  <a:srgbClr val="169873"/>
                </a:solidFill>
                <a:latin typeface="Calibri"/>
                <a:ea typeface="Calibri"/>
                <a:cs typeface="Calibri"/>
                <a:sym typeface="Calibri"/>
              </a:rPr>
              <a:t>Aboubacar DIARRA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1"/>
          <p:cNvSpPr/>
          <p:nvPr/>
        </p:nvSpPr>
        <p:spPr>
          <a:xfrm>
            <a:off x="7132510" y="1577340"/>
            <a:ext cx="1097400" cy="1097400"/>
          </a:xfrm>
          <a:prstGeom prst="ellipse">
            <a:avLst/>
          </a:prstGeom>
          <a:solidFill>
            <a:srgbClr val="16987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9" name="Google Shape;879;p4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4891" y="1829714"/>
            <a:ext cx="592532" cy="592532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41"/>
          <p:cNvSpPr/>
          <p:nvPr/>
        </p:nvSpPr>
        <p:spPr>
          <a:xfrm>
            <a:off x="8641310" y="4766310"/>
            <a:ext cx="342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1"/>
          <p:cNvSpPr/>
          <p:nvPr/>
        </p:nvSpPr>
        <p:spPr>
          <a:xfrm>
            <a:off x="480073" y="476631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Néovolt Grid+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2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VOLET E — CYBERSÉCURITÉ &amp; INFRASTRUCTURES CRITIQUES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2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300"/>
              <a:buFont typeface="Cambria"/>
              <a:buNone/>
            </a:pPr>
            <a:r>
              <a:rPr lang="fr" sz="23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Méthodologie &amp; périmètre technique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2"/>
          <p:cNvSpPr/>
          <p:nvPr/>
        </p:nvSpPr>
        <p:spPr>
          <a:xfrm>
            <a:off x="480060" y="1028700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8"/>
              </a:buClr>
              <a:buSzPts val="1000"/>
              <a:buFont typeface="Calibri"/>
              <a:buNone/>
            </a:pPr>
            <a:r>
              <a:rPr lang="fr" sz="1000" b="0" i="1" u="none" strike="noStrike" cap="none">
                <a:solidFill>
                  <a:srgbClr val="5A6B78"/>
                </a:solidFill>
                <a:latin typeface="Calibri"/>
                <a:ea typeface="Calibri"/>
                <a:cs typeface="Calibri"/>
                <a:sym typeface="Calibri"/>
              </a:rPr>
              <a:t>Démarche inspirée d'EBIOS Risk Manager : partir des actifs critiques, les relier aux menaces, prioriser les risques et proposer détection, réponse et durcissement — adaptée à un prototype de sprint.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2"/>
          <p:cNvSpPr/>
          <p:nvPr/>
        </p:nvSpPr>
        <p:spPr>
          <a:xfrm>
            <a:off x="480060" y="1474470"/>
            <a:ext cx="41148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Démarche de sécurité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2"/>
          <p:cNvSpPr/>
          <p:nvPr/>
        </p:nvSpPr>
        <p:spPr>
          <a:xfrm>
            <a:off x="480060" y="1748790"/>
            <a:ext cx="2640300" cy="905100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42"/>
          <p:cNvSpPr/>
          <p:nvPr/>
        </p:nvSpPr>
        <p:spPr>
          <a:xfrm>
            <a:off x="630936" y="1913382"/>
            <a:ext cx="411600" cy="4116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3" name="Google Shape;893;p4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948" y="200939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42"/>
          <p:cNvSpPr/>
          <p:nvPr/>
        </p:nvSpPr>
        <p:spPr>
          <a:xfrm>
            <a:off x="1131570" y="1885950"/>
            <a:ext cx="18858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EBIOS simplifié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2"/>
          <p:cNvSpPr/>
          <p:nvPr/>
        </p:nvSpPr>
        <p:spPr>
          <a:xfrm>
            <a:off x="1131570" y="2173986"/>
            <a:ext cx="1885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Cartographie des actifs critiques &amp; analyse de risques.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2"/>
          <p:cNvSpPr/>
          <p:nvPr/>
        </p:nvSpPr>
        <p:spPr>
          <a:xfrm>
            <a:off x="3243834" y="1748790"/>
            <a:ext cx="2640300" cy="905100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42"/>
          <p:cNvSpPr/>
          <p:nvPr/>
        </p:nvSpPr>
        <p:spPr>
          <a:xfrm>
            <a:off x="3394710" y="1913382"/>
            <a:ext cx="411600" cy="4116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8" name="Google Shape;898;p4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0722" y="200939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42"/>
          <p:cNvSpPr/>
          <p:nvPr/>
        </p:nvSpPr>
        <p:spPr>
          <a:xfrm>
            <a:off x="3895344" y="1885950"/>
            <a:ext cx="18858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Scénarios d'attaque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2"/>
          <p:cNvSpPr/>
          <p:nvPr/>
        </p:nvSpPr>
        <p:spPr>
          <a:xfrm>
            <a:off x="3895344" y="2173986"/>
            <a:ext cx="1885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7 scénarios (VPN, API, AD, relevés, ransomware, exports, upload).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2"/>
          <p:cNvSpPr/>
          <p:nvPr/>
        </p:nvSpPr>
        <p:spPr>
          <a:xfrm>
            <a:off x="6007608" y="1748790"/>
            <a:ext cx="2640300" cy="905100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42"/>
          <p:cNvSpPr/>
          <p:nvPr/>
        </p:nvSpPr>
        <p:spPr>
          <a:xfrm>
            <a:off x="6158484" y="1913382"/>
            <a:ext cx="411600" cy="4116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3" name="Google Shape;903;p4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4496" y="200939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42"/>
          <p:cNvSpPr/>
          <p:nvPr/>
        </p:nvSpPr>
        <p:spPr>
          <a:xfrm>
            <a:off x="6659118" y="1885950"/>
            <a:ext cx="18858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Détection SOC/SIEM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2"/>
          <p:cNvSpPr/>
          <p:nvPr/>
        </p:nvSpPr>
        <p:spPr>
          <a:xfrm>
            <a:off x="6659118" y="2173986"/>
            <a:ext cx="1885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6 règles sur les événements à surveiller.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2"/>
          <p:cNvSpPr/>
          <p:nvPr/>
        </p:nvSpPr>
        <p:spPr>
          <a:xfrm>
            <a:off x="480060" y="2763774"/>
            <a:ext cx="2640300" cy="905100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2"/>
          <p:cNvSpPr/>
          <p:nvPr/>
        </p:nvSpPr>
        <p:spPr>
          <a:xfrm>
            <a:off x="630936" y="2928366"/>
            <a:ext cx="411600" cy="4116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8" name="Google Shape;908;p4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6948" y="302437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42"/>
          <p:cNvSpPr/>
          <p:nvPr/>
        </p:nvSpPr>
        <p:spPr>
          <a:xfrm>
            <a:off x="1131570" y="2900934"/>
            <a:ext cx="18858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Runbook incident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2"/>
          <p:cNvSpPr/>
          <p:nvPr/>
        </p:nvSpPr>
        <p:spPr>
          <a:xfrm>
            <a:off x="1131570" y="3188970"/>
            <a:ext cx="1885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Premières actions &amp; escalade par type d'incident.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2"/>
          <p:cNvSpPr/>
          <p:nvPr/>
        </p:nvSpPr>
        <p:spPr>
          <a:xfrm>
            <a:off x="3243834" y="2763774"/>
            <a:ext cx="2640300" cy="905100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42"/>
          <p:cNvSpPr/>
          <p:nvPr/>
        </p:nvSpPr>
        <p:spPr>
          <a:xfrm>
            <a:off x="3394710" y="2928366"/>
            <a:ext cx="411600" cy="4116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4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90722" y="302437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42"/>
          <p:cNvSpPr/>
          <p:nvPr/>
        </p:nvSpPr>
        <p:spPr>
          <a:xfrm>
            <a:off x="3895344" y="2900934"/>
            <a:ext cx="18858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DevSecOps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2"/>
          <p:cNvSpPr/>
          <p:nvPr/>
        </p:nvSpPr>
        <p:spPr>
          <a:xfrm>
            <a:off x="3895344" y="3188970"/>
            <a:ext cx="1885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Sécurité dès la conception : RBAC, secrets, logs, flux.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2"/>
          <p:cNvSpPr/>
          <p:nvPr/>
        </p:nvSpPr>
        <p:spPr>
          <a:xfrm>
            <a:off x="6007608" y="2763774"/>
            <a:ext cx="2640300" cy="905100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9525" cap="flat" cmpd="sng">
            <a:solidFill>
              <a:srgbClr val="9BD7C9"/>
            </a:solidFill>
            <a:prstDash val="solid"/>
            <a:round/>
            <a:headEnd type="none" w="sm" len="sm"/>
            <a:tailEnd type="none" w="sm" len="sm"/>
          </a:ln>
          <a:effectLst>
            <a:outerShdw blurRad="66675" dist="28575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42"/>
          <p:cNvSpPr/>
          <p:nvPr/>
        </p:nvSpPr>
        <p:spPr>
          <a:xfrm>
            <a:off x="6158484" y="2928366"/>
            <a:ext cx="411600" cy="411600"/>
          </a:xfrm>
          <a:prstGeom prst="ellipse">
            <a:avLst/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8" name="Google Shape;918;p4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54496" y="302437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42"/>
          <p:cNvSpPr/>
          <p:nvPr/>
        </p:nvSpPr>
        <p:spPr>
          <a:xfrm>
            <a:off x="6659118" y="2900934"/>
            <a:ext cx="18858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Conformité &amp; PCA/PRA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2"/>
          <p:cNvSpPr/>
          <p:nvPr/>
        </p:nvSpPr>
        <p:spPr>
          <a:xfrm>
            <a:off x="6659118" y="3188970"/>
            <a:ext cx="1885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RGPD / NIS 2, continuité et reprise d'activité.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2"/>
          <p:cNvSpPr/>
          <p:nvPr/>
        </p:nvSpPr>
        <p:spPr>
          <a:xfrm>
            <a:off x="480060" y="380619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Composants techniques audités (socle volet 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2"/>
          <p:cNvSpPr/>
          <p:nvPr/>
        </p:nvSpPr>
        <p:spPr>
          <a:xfrm>
            <a:off x="480060" y="4101084"/>
            <a:ext cx="1337400" cy="7200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42"/>
          <p:cNvSpPr/>
          <p:nvPr/>
        </p:nvSpPr>
        <p:spPr>
          <a:xfrm>
            <a:off x="617220" y="425196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4" name="Google Shape;924;p4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6374" y="434111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42"/>
          <p:cNvSpPr/>
          <p:nvPr/>
        </p:nvSpPr>
        <p:spPr>
          <a:xfrm>
            <a:off x="1097280" y="4101084"/>
            <a:ext cx="651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+ Swagger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2"/>
          <p:cNvSpPr/>
          <p:nvPr/>
        </p:nvSpPr>
        <p:spPr>
          <a:xfrm>
            <a:off x="1906524" y="4101084"/>
            <a:ext cx="1337400" cy="7200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2"/>
          <p:cNvSpPr/>
          <p:nvPr/>
        </p:nvSpPr>
        <p:spPr>
          <a:xfrm>
            <a:off x="2043684" y="425196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8" name="Google Shape;928;p4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32838" y="434111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42"/>
          <p:cNvSpPr/>
          <p:nvPr/>
        </p:nvSpPr>
        <p:spPr>
          <a:xfrm>
            <a:off x="2523744" y="4101084"/>
            <a:ext cx="651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2"/>
          <p:cNvSpPr/>
          <p:nvPr/>
        </p:nvSpPr>
        <p:spPr>
          <a:xfrm>
            <a:off x="3332988" y="4101084"/>
            <a:ext cx="1337400" cy="7200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42"/>
          <p:cNvSpPr/>
          <p:nvPr/>
        </p:nvSpPr>
        <p:spPr>
          <a:xfrm>
            <a:off x="3470148" y="425196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2" name="Google Shape;932;p4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59302" y="434111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42"/>
          <p:cNvSpPr/>
          <p:nvPr/>
        </p:nvSpPr>
        <p:spPr>
          <a:xfrm>
            <a:off x="3950208" y="4101084"/>
            <a:ext cx="651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Compose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2"/>
          <p:cNvSpPr/>
          <p:nvPr/>
        </p:nvSpPr>
        <p:spPr>
          <a:xfrm>
            <a:off x="4759452" y="4101084"/>
            <a:ext cx="1337400" cy="7200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42"/>
          <p:cNvSpPr/>
          <p:nvPr/>
        </p:nvSpPr>
        <p:spPr>
          <a:xfrm>
            <a:off x="4896612" y="425196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6" name="Google Shape;936;p4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85766" y="434111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42"/>
          <p:cNvSpPr/>
          <p:nvPr/>
        </p:nvSpPr>
        <p:spPr>
          <a:xfrm>
            <a:off x="5376672" y="4101084"/>
            <a:ext cx="651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(RBAC + MFA)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2"/>
          <p:cNvSpPr/>
          <p:nvPr/>
        </p:nvSpPr>
        <p:spPr>
          <a:xfrm>
            <a:off x="6185916" y="4101084"/>
            <a:ext cx="1337400" cy="7200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42"/>
          <p:cNvSpPr/>
          <p:nvPr/>
        </p:nvSpPr>
        <p:spPr>
          <a:xfrm>
            <a:off x="6323076" y="425196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0" name="Google Shape;940;p4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12230" y="434111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42"/>
          <p:cNvSpPr/>
          <p:nvPr/>
        </p:nvSpPr>
        <p:spPr>
          <a:xfrm>
            <a:off x="6803136" y="4101084"/>
            <a:ext cx="651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Upload CSV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Pipeline Studio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2"/>
          <p:cNvSpPr/>
          <p:nvPr/>
        </p:nvSpPr>
        <p:spPr>
          <a:xfrm>
            <a:off x="7612380" y="4101084"/>
            <a:ext cx="1337400" cy="7200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42"/>
          <p:cNvSpPr/>
          <p:nvPr/>
        </p:nvSpPr>
        <p:spPr>
          <a:xfrm>
            <a:off x="7749540" y="4251960"/>
            <a:ext cx="411600" cy="41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4" name="Google Shape;944;p4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838694" y="4341114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42"/>
          <p:cNvSpPr/>
          <p:nvPr/>
        </p:nvSpPr>
        <p:spPr>
          <a:xfrm>
            <a:off x="8229600" y="4101084"/>
            <a:ext cx="651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ingestion_logs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700"/>
              <a:buFont typeface="Calibri"/>
              <a:buNone/>
            </a:pPr>
            <a:r>
              <a:rPr lang="fr" sz="700" b="1" i="0" u="none" strike="noStrike" cap="none">
                <a:solidFill>
                  <a:srgbClr val="0E2A47"/>
                </a:solidFill>
                <a:latin typeface="Calibri"/>
                <a:ea typeface="Calibri"/>
                <a:cs typeface="Calibri"/>
                <a:sym typeface="Calibri"/>
              </a:rPr>
              <a:t>(SOC / audit)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3"/>
          <p:cNvSpPr/>
          <p:nvPr/>
        </p:nvSpPr>
        <p:spPr>
          <a:xfrm>
            <a:off x="480060" y="30861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fr" sz="1000" b="1" i="0" u="none" strike="noStrike" cap="non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VOLET E — CYBERSÉCURITÉ &amp; INFRASTRUCTURES CRITIQUES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3"/>
          <p:cNvSpPr/>
          <p:nvPr/>
        </p:nvSpPr>
        <p:spPr>
          <a:xfrm>
            <a:off x="480060" y="534924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300"/>
              <a:buFont typeface="Cambria"/>
              <a:buNone/>
            </a:pPr>
            <a:r>
              <a:rPr lang="fr" sz="2300" b="1" i="0" u="none" strike="noStrike" cap="none">
                <a:solidFill>
                  <a:srgbClr val="0E2A47"/>
                </a:solidFill>
                <a:latin typeface="Cambria"/>
                <a:ea typeface="Cambria"/>
                <a:cs typeface="Cambria"/>
                <a:sym typeface="Cambria"/>
              </a:rPr>
              <a:t>Résultats &amp; livrables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3"/>
          <p:cNvSpPr/>
          <p:nvPr/>
        </p:nvSpPr>
        <p:spPr>
          <a:xfrm>
            <a:off x="480060" y="1062990"/>
            <a:ext cx="41148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Principaux risques identifiés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4" name="Google Shape;954;p43"/>
          <p:cNvGraphicFramePr/>
          <p:nvPr/>
        </p:nvGraphicFramePr>
        <p:xfrm>
          <a:off x="480060" y="1337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{554294F8-78CE-40D6-BB83-729832FB2266}</a:tableStyleId>
              </a:tblPr>
              <a:tblGrid>
                <a:gridCol w="92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Actif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Menace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fr" sz="8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Mesure clé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SCADA-01/02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Intrusion / segmentation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Segmentation stricte, accès nominatif.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VPN-01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Compromission de compte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MFA, filtrage IP, détection échecs.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AD-01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Élévation de privilèges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PAM, comptes admin séparés.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/ Web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Exploitation API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Auth, rate-limit, logs, tests OWASP.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Plateforme/DB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Altération des relevés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RBAC, intégrité, traçabilité exports.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47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b="1" u="none" strike="noStrike" cap="none">
                          <a:solidFill>
                            <a:srgbClr val="0E2A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Sauvegardes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Ransomware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700"/>
                        <a:buFont typeface="Calibri"/>
                        <a:buNone/>
                      </a:pPr>
                      <a:r>
                        <a:rPr lang="fr" sz="700" u="none" strike="noStrike" cap="none">
                          <a:solidFill>
                            <a:srgbClr val="1A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Sauvegardes immuables, tests restau.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D5DE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55" name="Google Shape;955;p43"/>
          <p:cNvSpPr/>
          <p:nvPr/>
        </p:nvSpPr>
        <p:spPr>
          <a:xfrm>
            <a:off x="480060" y="3703320"/>
            <a:ext cx="4080600" cy="1200300"/>
          </a:xfrm>
          <a:prstGeom prst="roundRect">
            <a:avLst>
              <a:gd name="adj" fmla="val 4000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6" name="Google Shape;956;p4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510" y="384048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43"/>
          <p:cNvSpPr/>
          <p:nvPr/>
        </p:nvSpPr>
        <p:spPr>
          <a:xfrm>
            <a:off x="960120" y="3826764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9BD7C9"/>
                </a:solidFill>
                <a:latin typeface="Cambria"/>
                <a:ea typeface="Cambria"/>
                <a:cs typeface="Cambria"/>
                <a:sym typeface="Cambria"/>
              </a:rPr>
              <a:t>Détection SOC/SIEM — 6 règles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3"/>
          <p:cNvSpPr/>
          <p:nvPr/>
        </p:nvSpPr>
        <p:spPr>
          <a:xfrm>
            <a:off x="651510" y="4149090"/>
            <a:ext cx="3771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Échecs de connexion répétés · connexion VPN inhabituelle · modification de droits AD · accès refusés API/DB · export de données inhabituel · imports anormaux dans </a:t>
            </a:r>
            <a:r>
              <a:rPr lang="fr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ingestion_logs</a:t>
            </a: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3"/>
          <p:cNvSpPr/>
          <p:nvPr/>
        </p:nvSpPr>
        <p:spPr>
          <a:xfrm>
            <a:off x="4800600" y="1062990"/>
            <a:ext cx="3840600" cy="2023200"/>
          </a:xfrm>
          <a:prstGeom prst="roundRect">
            <a:avLst>
              <a:gd name="adj" fmla="val 2373"/>
            </a:avLst>
          </a:prstGeom>
          <a:solidFill>
            <a:srgbClr val="E8F1F5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43"/>
          <p:cNvSpPr/>
          <p:nvPr/>
        </p:nvSpPr>
        <p:spPr>
          <a:xfrm>
            <a:off x="5006340" y="1200150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lang="fr" sz="12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Livrables produits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3"/>
          <p:cNvSpPr/>
          <p:nvPr/>
        </p:nvSpPr>
        <p:spPr>
          <a:xfrm>
            <a:off x="5006340" y="1508760"/>
            <a:ext cx="3463200" cy="15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Cartographie de 10 actifs critiques + analyse de risques.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7 scénarios d'attaque &amp; 6 règles de détection SOC/SIEM.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Runbook de réponse à incident (actions + escalade).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Audit du prototype technique du volet D.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Recommandations DevSecOps, conformité RGPD/NIS 2, PCA/PRA.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4000" marR="0" lvl="0" indent="-254000" algn="l" rtl="0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Char char="•"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Architecture cible de sécurité + sécurisation Power BI &amp; modèle Ridge.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3"/>
          <p:cNvSpPr/>
          <p:nvPr/>
        </p:nvSpPr>
        <p:spPr>
          <a:xfrm>
            <a:off x="4800600" y="3188970"/>
            <a:ext cx="3840600" cy="8232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1425" cap="flat" cmpd="sng">
            <a:solidFill>
              <a:srgbClr val="00A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3" name="Google Shape;963;p4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2624" y="332613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43"/>
          <p:cNvSpPr/>
          <p:nvPr/>
        </p:nvSpPr>
        <p:spPr>
          <a:xfrm>
            <a:off x="5308092" y="3312414"/>
            <a:ext cx="31548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mbria"/>
              <a:buNone/>
            </a:pPr>
            <a:r>
              <a:rPr lang="fr" sz="1100" b="1" i="0" u="none" strike="noStrike" cap="non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Conformité RGPD / NIS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3"/>
          <p:cNvSpPr/>
          <p:nvPr/>
        </p:nvSpPr>
        <p:spPr>
          <a:xfrm>
            <a:off x="5006340" y="3579876"/>
            <a:ext cx="346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Minimisation &amp; agrégation des données, validation humaine sur la fraude, isolation SCADA, accès prestataires temporaires, notification incident majeur &lt; 24 h.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3"/>
          <p:cNvSpPr/>
          <p:nvPr/>
        </p:nvSpPr>
        <p:spPr>
          <a:xfrm>
            <a:off x="4800600" y="4114800"/>
            <a:ext cx="3840600" cy="788700"/>
          </a:xfrm>
          <a:prstGeom prst="roundRect">
            <a:avLst>
              <a:gd name="adj" fmla="val 6087"/>
            </a:avLst>
          </a:prstGeom>
          <a:solidFill>
            <a:srgbClr val="0E2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43"/>
          <p:cNvSpPr/>
          <p:nvPr/>
        </p:nvSpPr>
        <p:spPr>
          <a:xfrm>
            <a:off x="5006340" y="4238244"/>
            <a:ext cx="34290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D7C9"/>
              </a:buClr>
              <a:buSzPts val="1000"/>
              <a:buFont typeface="Cambria"/>
              <a:buNone/>
            </a:pPr>
            <a:r>
              <a:rPr lang="fr" sz="1000" b="1" i="0" u="none" strike="noStrike" cap="none">
                <a:solidFill>
                  <a:srgbClr val="9BD7C9"/>
                </a:solidFill>
                <a:latin typeface="Cambria"/>
                <a:ea typeface="Cambria"/>
                <a:cs typeface="Cambria"/>
                <a:sym typeface="Cambria"/>
              </a:rPr>
              <a:t>Principes directeurs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3"/>
          <p:cNvSpPr/>
          <p:nvPr/>
        </p:nvSpPr>
        <p:spPr>
          <a:xfrm>
            <a:off x="5006340" y="4471416"/>
            <a:ext cx="3463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800"/>
              <a:buFont typeface="Calibri"/>
              <a:buNone/>
            </a:pPr>
            <a:r>
              <a:rPr lang="fr" sz="800" b="0" i="0" u="none" strike="noStrike" cap="non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Moindre privilège · journalisation · validation des imports · segmentation · continuité de service.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4"/>
          <p:cNvSpPr/>
          <p:nvPr/>
        </p:nvSpPr>
        <p:spPr>
          <a:xfrm>
            <a:off x="7315200" y="365760"/>
            <a:ext cx="82200" cy="82200"/>
          </a:xfrm>
          <a:prstGeom prst="ellipse">
            <a:avLst/>
          </a:prstGeom>
          <a:solidFill>
            <a:srgbClr val="00A896">
              <a:alpha val="7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44"/>
          <p:cNvSpPr/>
          <p:nvPr/>
        </p:nvSpPr>
        <p:spPr>
          <a:xfrm>
            <a:off x="7735824" y="365760"/>
            <a:ext cx="82200" cy="82200"/>
          </a:xfrm>
          <a:prstGeom prst="ellipse">
            <a:avLst/>
          </a:prstGeom>
          <a:solidFill>
            <a:srgbClr val="00A896">
              <a:alpha val="7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44"/>
          <p:cNvSpPr/>
          <p:nvPr/>
        </p:nvSpPr>
        <p:spPr>
          <a:xfrm>
            <a:off x="8156448" y="365760"/>
            <a:ext cx="82200" cy="82200"/>
          </a:xfrm>
          <a:prstGeom prst="ellipse">
            <a:avLst/>
          </a:prstGeom>
          <a:solidFill>
            <a:srgbClr val="00A896">
              <a:alpha val="7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44"/>
          <p:cNvSpPr/>
          <p:nvPr/>
        </p:nvSpPr>
        <p:spPr>
          <a:xfrm>
            <a:off x="8577072" y="365760"/>
            <a:ext cx="82200" cy="82200"/>
          </a:xfrm>
          <a:prstGeom prst="ellipse">
            <a:avLst/>
          </a:prstGeom>
          <a:solidFill>
            <a:srgbClr val="00A896">
              <a:alpha val="7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44"/>
          <p:cNvSpPr/>
          <p:nvPr/>
        </p:nvSpPr>
        <p:spPr>
          <a:xfrm>
            <a:off x="7315200" y="786384"/>
            <a:ext cx="82200" cy="82200"/>
          </a:xfrm>
          <a:prstGeom prst="ellipse">
            <a:avLst/>
          </a:prstGeom>
          <a:solidFill>
            <a:srgbClr val="00A896">
              <a:alpha val="7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44"/>
          <p:cNvSpPr/>
          <p:nvPr/>
        </p:nvSpPr>
        <p:spPr>
          <a:xfrm>
            <a:off x="7735824" y="786384"/>
            <a:ext cx="82200" cy="82200"/>
          </a:xfrm>
          <a:prstGeom prst="ellipse">
            <a:avLst/>
          </a:prstGeom>
          <a:solidFill>
            <a:srgbClr val="00A896">
              <a:alpha val="7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44"/>
          <p:cNvSpPr/>
          <p:nvPr/>
        </p:nvSpPr>
        <p:spPr>
          <a:xfrm>
            <a:off x="8156448" y="786384"/>
            <a:ext cx="82200" cy="82200"/>
          </a:xfrm>
          <a:prstGeom prst="ellipse">
            <a:avLst/>
          </a:prstGeom>
          <a:solidFill>
            <a:srgbClr val="00A896">
              <a:alpha val="70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44"/>
          <p:cNvSpPr/>
          <p:nvPr/>
        </p:nvSpPr>
        <p:spPr>
          <a:xfrm>
            <a:off x="594360" y="65836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b="1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EN CONCLUSION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44"/>
          <p:cNvSpPr/>
          <p:nvPr/>
        </p:nvSpPr>
        <p:spPr>
          <a:xfrm>
            <a:off x="594360" y="960120"/>
            <a:ext cx="7955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fr" sz="2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Néovolt GRID+ : un prototype prêt à industrialiser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44"/>
          <p:cNvSpPr/>
          <p:nvPr/>
        </p:nvSpPr>
        <p:spPr>
          <a:xfrm>
            <a:off x="557784" y="1783080"/>
            <a:ext cx="2541900" cy="1737300"/>
          </a:xfrm>
          <a:prstGeom prst="roundRect">
            <a:avLst>
              <a:gd name="adj" fmla="val 3684"/>
            </a:avLst>
          </a:prstGeom>
          <a:solidFill>
            <a:srgbClr val="12365A"/>
          </a:solidFill>
          <a:ln w="12700" cap="flat" cmpd="sng">
            <a:solidFill>
              <a:srgbClr val="1E4A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44"/>
          <p:cNvSpPr/>
          <p:nvPr/>
        </p:nvSpPr>
        <p:spPr>
          <a:xfrm>
            <a:off x="813816" y="2011680"/>
            <a:ext cx="567000" cy="5670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4" name="Google Shape;984;p4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0976" y="21488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44"/>
          <p:cNvSpPr/>
          <p:nvPr/>
        </p:nvSpPr>
        <p:spPr>
          <a:xfrm>
            <a:off x="813816" y="2679192"/>
            <a:ext cx="2030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Valeur démontrée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44"/>
          <p:cNvSpPr/>
          <p:nvPr/>
        </p:nvSpPr>
        <p:spPr>
          <a:xfrm>
            <a:off x="813816" y="2971800"/>
            <a:ext cx="2030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fr" sz="95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Prévision Ridge fiable, analyses décisionnelles et dashboards par profil métier.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44"/>
          <p:cNvSpPr/>
          <p:nvPr/>
        </p:nvSpPr>
        <p:spPr>
          <a:xfrm>
            <a:off x="3300984" y="1783080"/>
            <a:ext cx="2541900" cy="1737300"/>
          </a:xfrm>
          <a:prstGeom prst="roundRect">
            <a:avLst>
              <a:gd name="adj" fmla="val 3684"/>
            </a:avLst>
          </a:prstGeom>
          <a:solidFill>
            <a:srgbClr val="12365A"/>
          </a:solidFill>
          <a:ln w="12700" cap="flat" cmpd="sng">
            <a:solidFill>
              <a:srgbClr val="1E4A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44"/>
          <p:cNvSpPr/>
          <p:nvPr/>
        </p:nvSpPr>
        <p:spPr>
          <a:xfrm>
            <a:off x="3557016" y="2011680"/>
            <a:ext cx="567000" cy="5670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9" name="Google Shape;989;p4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94176" y="21488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44"/>
          <p:cNvSpPr/>
          <p:nvPr/>
        </p:nvSpPr>
        <p:spPr>
          <a:xfrm>
            <a:off x="3557016" y="2679192"/>
            <a:ext cx="2030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Maîtrise &amp; conformité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44"/>
          <p:cNvSpPr/>
          <p:nvPr/>
        </p:nvSpPr>
        <p:spPr>
          <a:xfrm>
            <a:off x="3557016" y="2971800"/>
            <a:ext cx="2030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fr" sz="95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Gouvernance des données, sécurité dès la conception, RGPD / NIS 2 respectés.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44"/>
          <p:cNvSpPr/>
          <p:nvPr/>
        </p:nvSpPr>
        <p:spPr>
          <a:xfrm>
            <a:off x="6044184" y="1783080"/>
            <a:ext cx="2541900" cy="1737300"/>
          </a:xfrm>
          <a:prstGeom prst="roundRect">
            <a:avLst>
              <a:gd name="adj" fmla="val 3684"/>
            </a:avLst>
          </a:prstGeom>
          <a:solidFill>
            <a:srgbClr val="12365A"/>
          </a:solidFill>
          <a:ln w="12700" cap="flat" cmpd="sng">
            <a:solidFill>
              <a:srgbClr val="1E4A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4"/>
          <p:cNvSpPr/>
          <p:nvPr/>
        </p:nvSpPr>
        <p:spPr>
          <a:xfrm>
            <a:off x="6300216" y="2011680"/>
            <a:ext cx="567000" cy="5670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4" name="Google Shape;994;p4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7376" y="21488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44"/>
          <p:cNvSpPr/>
          <p:nvPr/>
        </p:nvSpPr>
        <p:spPr>
          <a:xfrm>
            <a:off x="6300216" y="2679192"/>
            <a:ext cx="20301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Trajectoire claire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44"/>
          <p:cNvSpPr/>
          <p:nvPr/>
        </p:nvSpPr>
        <p:spPr>
          <a:xfrm>
            <a:off x="6300216" y="2971800"/>
            <a:ext cx="2030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fr" sz="950" b="0" i="0" u="none" strike="noStrike" cap="none">
                <a:solidFill>
                  <a:srgbClr val="9BD7C9"/>
                </a:solidFill>
                <a:latin typeface="Calibri"/>
                <a:ea typeface="Calibri"/>
                <a:cs typeface="Calibri"/>
                <a:sym typeface="Calibri"/>
              </a:rPr>
              <a:t>Périmètre resserré, ROI ~+167 % à 3 ans, conditions d'industrialisation posées.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44"/>
          <p:cNvSpPr/>
          <p:nvPr/>
        </p:nvSpPr>
        <p:spPr>
          <a:xfrm>
            <a:off x="594360" y="3794760"/>
            <a:ext cx="7955400" cy="960000"/>
          </a:xfrm>
          <a:prstGeom prst="roundRect">
            <a:avLst>
              <a:gd name="adj" fmla="val 7619"/>
            </a:avLst>
          </a:prstGeom>
          <a:solidFill>
            <a:srgbClr val="00A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8" name="Google Shape;998;p4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40690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44"/>
          <p:cNvSpPr/>
          <p:nvPr/>
        </p:nvSpPr>
        <p:spPr>
          <a:xfrm>
            <a:off x="1417320" y="3913632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Merci de votre attention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44"/>
          <p:cNvSpPr/>
          <p:nvPr/>
        </p:nvSpPr>
        <p:spPr>
          <a:xfrm>
            <a:off x="1417320" y="427939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f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Équipe projet CASMOS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fr" sz="1050" b="0" i="0" u="none" strike="noStrike" cap="none">
                <a:solidFill>
                  <a:srgbClr val="E6FAF6"/>
                </a:solidFill>
                <a:latin typeface="Calibri"/>
                <a:ea typeface="Calibri"/>
                <a:cs typeface="Calibri"/>
                <a:sym typeface="Calibri"/>
              </a:rPr>
              <a:t>Celia · Sabrina · Ryad · Aboubacar · Sofiane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(16:9)</PresentationFormat>
  <Slides>30</Slides>
  <Notes>30</Notes>
  <HiddenSlides>0</HiddenSlide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30</vt:i4>
      </vt:variant>
    </vt:vector>
  </HeadingPairs>
  <TitlesOfParts>
    <vt:vector size="32" baseType="lpstr">
      <vt:lpstr>Simple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</cp:revision>
  <dcterms:modified xsi:type="dcterms:W3CDTF">2026-06-09T19:36:23Z</dcterms:modified>
</cp:coreProperties>
</file>